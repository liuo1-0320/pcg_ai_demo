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66f6ced5a34260" /><Relationship Type="http://schemas.openxmlformats.org/officeDocument/2006/relationships/extended-properties" Target="/docProps/app.xml" Id="R96541698c466400c" /><Relationship Type="http://schemas.openxmlformats.org/officeDocument/2006/relationships/officeDocument" Target="/ppt/presentation.xml" Id="R54bb00b6a08d4133" /></Relationships>
</file>

<file path=ppt/presentation.xml><?xml version="1.0" encoding="utf-8"?>
<p:presentation xmlns:p="http://schemas.openxmlformats.org/presentationml/2006/main">
  <p:sldMasterIdLst>
    <p:sldMasterId xmlns:r="http://schemas.openxmlformats.org/officeDocument/2006/relationships" id="2147483648" r:id="R9930787d19094dbe"/>
  </p:sldMasterIdLst>
  <p:notesMasterIdLst>
    <p:notesMasterId xmlns:r="http://schemas.openxmlformats.org/officeDocument/2006/relationships" r:id="R5075c13691194a4c"/>
  </p:notesMasterIdLst>
  <p:sldIdLst>
    <p:sldId xmlns:r="http://schemas.openxmlformats.org/officeDocument/2006/relationships" id="256" r:id="R4317da00b037466f"/>
    <p:sldId xmlns:r="http://schemas.openxmlformats.org/officeDocument/2006/relationships" id="257" r:id="R0029121c93444a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60e39ece66497b" /><Relationship Type="http://schemas.openxmlformats.org/officeDocument/2006/relationships/slideMaster" Target="/ppt/slideMasters/slideMaster1.xml" Id="R9930787d19094dbe" /><Relationship Type="http://schemas.openxmlformats.org/officeDocument/2006/relationships/notesMaster" Target="/ppt/notesMasters/notesMaster1.xml" Id="R5075c13691194a4c" /><Relationship Type="http://schemas.openxmlformats.org/officeDocument/2006/relationships/presProps" Target="/ppt/presProps.xml" Id="R0efa70ded57f4080" /><Relationship Type="http://schemas.openxmlformats.org/officeDocument/2006/relationships/tableStyles" Target="/ppt/tableStyles.xml" Id="R11609c5f36164b5e" /><Relationship Type="http://schemas.openxmlformats.org/officeDocument/2006/relationships/slide" Target="/ppt/slides/slide1.xml" Id="R4317da00b037466f" /><Relationship Type="http://schemas.openxmlformats.org/officeDocument/2006/relationships/slide" Target="/ppt/slides/slide2.xml" Id="R0029121c93444a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b462f0e45341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672075bf574e0d" /><Relationship Type="http://schemas.openxmlformats.org/officeDocument/2006/relationships/notesMaster" Target="/ppt/notesMasters/notesMaster1.xml" Id="Reca13c623b4940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1070dd4fd8499c" /><Relationship Type="http://schemas.openxmlformats.org/officeDocument/2006/relationships/notesMaster" Target="/ppt/notesMasters/notesMaster1.xml" Id="R18b90de41c734f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fantasy FPS concept art for a castle that consumes memories. A vast Gothic portrait gallery leading to a circular throne hall, pointed arches and ribbed vaults, worn limestone, black crystalline growths inside broken framed portraits, deep burgundy velvet torn banners, warm candle clusters, muted violet spectral trails, pale faceless armored court guard on the right for scale, a restrained royal silhouette emerges from a painted portrait. Steps, ramps, balconies and cover clearly readable for gameplay. Charcoal #211D28, limestone #A99D88, burgundy #6F263C, candle gold #DCA85A, spectral lavender #A89BD4. Melancholic and mysterious, sophisticated stylized fantasy, readable detail, no gore. Cinematic wide environmental frame. No text, labels, logos, watermark, HUD. Original conceptual art.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charcoal-violet neutral background showing a memory-consuming Gothic castle asset family: a stone pointed arch and ribbed pillar behind, cracked ornate portrait frame with an erased face, candleholder and candelabrum, torn burgundy velvet drapery, a faceless court knight with an elegant antique carbine, a small cracked memory crystal and brass locket. Natural material sample chunks of worn limestone, embossed gold metal, black crystal and red velvet placed among the props. Objects separated and legible, original designs, painterly game concept art, soft candle amber key light and pale lavender accents, no gore. No words, annotations, cards, labels, UI, logos or watermark. Concept reference only.</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氛围扩展：漂浮字迹、画像褪色、晶体微光。首版用静态贴图讲故事。</a:t>
            </a:r>
          </a:p>
          <a:p xmlns:a="http://schemas.openxmlformats.org/drawingml/2006/main">
            <a:r>
              <a:t>配色：炭黑 #211D28, 旧石灰岩 #A99D88, 暗红绒布 #6F263C, 记忆紫光 #A89BD4</a:t>
            </a:r>
          </a:p>
          <a:p xmlns:a="http://schemas.openxmlformats.org/drawingml/2006/main">
            <a:r>
              <a:t>核心材质：石灰岩、暗红绒布、旧金属。紫光只用于记忆与超自然线索。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1a3b9fb3ad4e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66b7e1c7de48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7facc2678547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8abbdf9b4640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1bbc5968b745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d10e20a8024a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7B176D-CC79-4FA6-9611-C0AB14E3CD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05EEF9-BD5F-47FC-955E-35C3B90BA3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A4A702-B9A9-44AC-AEB9-DE6FA7B4CE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FA0BB7-7AD8-4B77-81F3-B9D8020E68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87EECD-97DD-4A11-8B77-89D4A7096D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48D3F9-743B-4332-A260-9F3F68A6D9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096C37-209B-4F3C-8587-99B43FD548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1F1A01-A161-4627-8922-F1960932F1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7C7713-6095-477E-89CA-5B2E530AAB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C16864-BF9F-4060-B043-272F3C7AC0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0b74ab4f4a4558" /><Relationship Type="http://schemas.openxmlformats.org/officeDocument/2006/relationships/slideLayout" Target="/ppt/slideLayouts/slideLayout1.xml" Id="R34ea9807aa4646e9" /><Relationship Type="http://schemas.openxmlformats.org/officeDocument/2006/relationships/slideLayout" Target="/ppt/slideLayouts/slideLayout2.xml" Id="R60e811d0217943d2" /><Relationship Type="http://schemas.openxmlformats.org/officeDocument/2006/relationships/slideLayout" Target="/ppt/slideLayouts/slideLayout3.xml" Id="R7cc844eb5d2d4e37" /><Relationship Type="http://schemas.openxmlformats.org/officeDocument/2006/relationships/slideLayout" Target="/ppt/slideLayouts/slideLayout4.xml" Id="Rb7983a06cd6a4070" /><Relationship Type="http://schemas.openxmlformats.org/officeDocument/2006/relationships/slideLayout" Target="/ppt/slideLayouts/slideLayout5.xml" Id="Reb321acd64d74256" /><Relationship Type="http://schemas.openxmlformats.org/officeDocument/2006/relationships/slideLayout" Target="/ppt/slideLayouts/slideLayout6.xml" Id="R9be6214bfa204a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a9807aa4646e9"/>
    <p:sldLayoutId xmlns:r="http://schemas.openxmlformats.org/officeDocument/2006/relationships" id="2147483650" r:id="R60e811d0217943d2"/>
    <p:sldLayoutId xmlns:r="http://schemas.openxmlformats.org/officeDocument/2006/relationships" id="2147483651" r:id="R7cc844eb5d2d4e37"/>
    <p:sldLayoutId xmlns:r="http://schemas.openxmlformats.org/officeDocument/2006/relationships" id="2147483652" r:id="Rb7983a06cd6a4070"/>
    <p:sldLayoutId xmlns:r="http://schemas.openxmlformats.org/officeDocument/2006/relationships" id="2147483653" r:id="Reb321acd64d74256"/>
    <p:sldLayoutId xmlns:r="http://schemas.openxmlformats.org/officeDocument/2006/relationships" id="2147483654" r:id="R9be6214bfa204a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5a41576c68415e" /><Relationship Type="http://schemas.openxmlformats.org/officeDocument/2006/relationships/image" Target="/ppt/media/image.png" Id="R800d718c69bf40a8" /><Relationship Type="http://schemas.openxmlformats.org/officeDocument/2006/relationships/notesSlide" Target="/ppt/notesSlides/notesSlide1.xml" Id="Rb9246e9e8ce641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12aef0a0744995" /><Relationship Type="http://schemas.openxmlformats.org/officeDocument/2006/relationships/image" Target="/ppt/media/image2.png" Id="R1ca33ed3f26e4083" /><Relationship Type="http://schemas.openxmlformats.org/officeDocument/2006/relationships/notesSlide" Target="/ppt/notesSlides/notesSlide2.xml" Id="R9e3d2ccdbe5a4163" /></Relationships>
</file>

<file path=ppt/slides/slide1.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A4E0EBAE-D1A7-4976-9459-613701D0FF13}"/>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3A1B4"/>
                </a:solidFill>
                <a:latin typeface="Microsoft YaHei"/>
                <a:ea typeface="Microsoft YaHei"/>
                <a:cs typeface="Microsoft YaHei"/>
              </a:defRPr>
            </a:defPPr>
          </a:lstStyle>
          <a:p xmlns:a="http://schemas.openxmlformats.org/drawingml/2006/main">
            <a:pPr>
              <a:defRPr sz="1650" b="0">
                <a:solidFill>
                  <a:srgbClr val="D3A1B4"/>
                </a:solidFill>
                <a:latin typeface="Microsoft YaHei"/>
                <a:ea typeface="Microsoft YaHei"/>
                <a:cs typeface="Microsoft YaHei"/>
              </a:defRPr>
            </a:pPr>
            <a:r>
              <a:rPr sz="1650" b="0">
                <a:solidFill>
                  <a:srgbClr val="D3A1B4"/>
                </a:solidFill>
                <a:latin typeface="Microsoft YaHei"/>
                <a:ea typeface="Microsoft YaHei"/>
                <a:cs typeface="Microsoft YaHei"/>
              </a:rPr>
              <a:t>02  世界观与视觉</a:t>
            </a:r>
          </a:p>
        </p:txBody>
      </p:sp>
      <p:sp>
        <p:nvSpPr>
          <p:cNvPr id="2" name="title">
            <a:extLst xmlns:a="http://schemas.openxmlformats.org/drawingml/2006/main">
              <a:ext uri="{FF2B5EF4-FFF2-40B4-BE49-F238E27FC236}">
                <a16:creationId xmlns:a16="http://schemas.microsoft.com/office/drawing/2014/main" id="{E70CEA26-8D9F-4464-AB8D-31762EBC485F}"/>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吞噬记忆的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古堡</a:t>
            </a:r>
          </a:p>
        </p:txBody>
      </p:sp>
      <p:sp>
        <p:nvSpPr>
          <p:cNvPr id="3" name="subtitle">
            <a:extLst xmlns:a="http://schemas.openxmlformats.org/drawingml/2006/main">
              <a:ext uri="{FF2B5EF4-FFF2-40B4-BE49-F238E27FC236}">
                <a16:creationId xmlns:a16="http://schemas.microsoft.com/office/drawing/2014/main" id="{76B6426B-9DCB-49EF-864D-FFCCA93EBFEA}"/>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3A1B4"/>
                </a:solidFill>
                <a:latin typeface="Microsoft YaHei"/>
                <a:ea typeface="Microsoft YaHei"/>
                <a:cs typeface="Microsoft YaHei"/>
              </a:defRPr>
            </a:defPPr>
          </a:lstStyle>
          <a:p xmlns:a="http://schemas.openxmlformats.org/drawingml/2006/main">
            <a:pPr>
              <a:defRPr sz="2025" b="0">
                <a:solidFill>
                  <a:srgbClr val="D3A1B4"/>
                </a:solidFill>
                <a:latin typeface="Microsoft YaHei"/>
                <a:ea typeface="Microsoft YaHei"/>
                <a:cs typeface="Microsoft YaHei"/>
              </a:defRPr>
            </a:pPr>
            <a:r>
              <a:rPr sz="2025" b="0">
                <a:solidFill>
                  <a:srgbClr val="D3A1B4"/>
                </a:solidFill>
                <a:latin typeface="Microsoft YaHei"/>
                <a:ea typeface="Microsoft YaHei"/>
                <a:cs typeface="Microsoft YaHei"/>
              </a:rPr>
              <a:t>哥特建筑，失去身份的宫廷</a:t>
            </a:r>
          </a:p>
        </p:txBody>
      </p:sp>
      <p:sp>
        <p:nvSpPr>
          <p:cNvPr id="4" name="story-label">
            <a:extLst xmlns:a="http://schemas.openxmlformats.org/drawingml/2006/main">
              <a:ext uri="{FF2B5EF4-FFF2-40B4-BE49-F238E27FC236}">
                <a16:creationId xmlns:a16="http://schemas.microsoft.com/office/drawing/2014/main" id="{6D39588B-7DEE-43F6-916F-9FF753FFFDF1}"/>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820E1847-706E-4751-A3C1-D241BDEBFFA2}"/>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古堡吸收人的记忆，房间来自被遗忘的往事。守卫失去姓名，仍执行旧命令。</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玩家寻找失踪者的线索，并逐渐发现自己也来过这里。</a:t>
            </a:r>
          </a:p>
        </p:txBody>
      </p:sp>
      <p:sp>
        <p:nvSpPr>
          <p:cNvPr id="6" name="hook">
            <a:extLst xmlns:a="http://schemas.openxmlformats.org/drawingml/2006/main">
              <a:ext uri="{FF2B5EF4-FFF2-40B4-BE49-F238E27FC236}">
                <a16:creationId xmlns:a16="http://schemas.microsoft.com/office/drawing/2014/main" id="{920E0071-5F52-48D6-9CDF-22C85519A058}"/>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CB0BE"/>
                </a:solidFill>
                <a:latin typeface="Microsoft YaHei"/>
                <a:ea typeface="Microsoft YaHei"/>
                <a:cs typeface="Microsoft YaHei"/>
              </a:defRPr>
            </a:defPPr>
          </a:lstStyle>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商店主人不收金币，</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而是询问你的名字。</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某幅肖像的脸，</a:t>
            </a:r>
          </a:p>
          <a:p xmlns:a="http://schemas.openxmlformats.org/drawingml/2006/main">
            <a:pPr>
              <a:defRPr sz="1650" b="0">
                <a:solidFill>
                  <a:srgbClr val="BCB0BE"/>
                </a:solidFill>
                <a:latin typeface="Microsoft YaHei"/>
                <a:ea typeface="Microsoft YaHei"/>
                <a:cs typeface="Microsoft YaHei"/>
              </a:defRPr>
            </a:pPr>
            <a:r>
              <a:rPr sz="1650" b="0">
                <a:solidFill>
                  <a:srgbClr val="BCB0BE"/>
                </a:solidFill>
                <a:latin typeface="Microsoft YaHei"/>
                <a:ea typeface="Microsoft YaHei"/>
                <a:cs typeface="Microsoft YaHei"/>
              </a:rPr>
              <a:t>正逐渐变成玩家的模样。</a:t>
            </a:r>
          </a:p>
        </p:txBody>
      </p:sp>
      <p:pic>
        <p:nvPicPr>
          <p:cNvPr id="7" name="">
            <a:extLst xmlns:a="http://schemas.openxmlformats.org/drawingml/2006/main">
              <a:ext uri="{FF2B5EF4-FFF2-40B4-BE49-F238E27FC236}">
                <a16:creationId xmlns:a16="http://schemas.microsoft.com/office/drawing/2014/main" id="{7F89D915-9B95-47CD-8A25-16C7E544FB63}"/>
              </a:ext>
            </a:extLst>
          </p:cNvPr>
          <p:cNvPicPr>
            <a:picLocks xmlns:a="http://schemas.openxmlformats.org/drawingml/2006/main" noChangeAspect="1"/>
          </p:cNvPicPr>
          <p:nvPr/>
        </p:nvPicPr>
        <p:blipFill>
          <a:blip xmlns:r="http://schemas.openxmlformats.org/officeDocument/2006/relationships" xmlns:a="http://schemas.openxmlformats.org/drawingml/2006/main" r:embed="R800d718c69bf40a8"/>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7629F881-69B9-47BD-8CE0-D3249868C7C9}"/>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BCB0BE"/>
                </a:solidFill>
                <a:latin typeface="Microsoft YaHei"/>
                <a:ea typeface="Microsoft YaHei"/>
                <a:cs typeface="Microsoft YaHei"/>
              </a:defRPr>
            </a:defPPr>
          </a:lstStyle>
          <a:p xmlns:a="http://schemas.openxmlformats.org/drawingml/2006/main">
            <a:pPr>
              <a:defRPr sz="1275" b="0">
                <a:solidFill>
                  <a:srgbClr val="BCB0BE"/>
                </a:solidFill>
                <a:latin typeface="Microsoft YaHei"/>
                <a:ea typeface="Microsoft YaHei"/>
                <a:cs typeface="Microsoft YaHei"/>
              </a:defRPr>
            </a:pPr>
            <a:r>
              <a:rPr sz="1275" b="0">
                <a:solidFill>
                  <a:srgbClr val="BCB0BE"/>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5BD6CC44-0B60-4190-B0C5-6A0EA1DBC66E}"/>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BC899951-69B4-4196-9B35-9B75D76AC65C}"/>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肖像长廊与贵族旧居</a:t>
            </a:r>
          </a:p>
        </p:txBody>
      </p:sp>
      <p:sp>
        <p:nvSpPr>
          <p:cNvPr id="11" name="zone-1">
            <a:extLst xmlns:a="http://schemas.openxmlformats.org/drawingml/2006/main">
              <a:ext uri="{FF2B5EF4-FFF2-40B4-BE49-F238E27FC236}">
                <a16:creationId xmlns:a16="http://schemas.microsoft.com/office/drawing/2014/main" id="{751A3CC4-C299-434F-8529-9D2CC8B518A5}"/>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5BBB020C-57A8-4E79-8FA3-2455DE996076}"/>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封存记忆的密室</a:t>
            </a:r>
          </a:p>
        </p:txBody>
      </p:sp>
      <p:sp>
        <p:nvSpPr>
          <p:cNvPr id="13" name="zone-2">
            <a:extLst xmlns:a="http://schemas.openxmlformats.org/drawingml/2006/main">
              <a:ext uri="{FF2B5EF4-FFF2-40B4-BE49-F238E27FC236}">
                <a16:creationId xmlns:a16="http://schemas.microsoft.com/office/drawing/2014/main" id="{D8A7CF9C-82D4-4D63-85A6-223F3B11622C}"/>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B6671407-0B45-4219-958A-FD98E845D5C6}"/>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画像王后的王座厅</a:t>
            </a:r>
          </a:p>
        </p:txBody>
      </p:sp>
      <p:sp>
        <p:nvSpPr>
          <p:cNvPr id="15" name="palette-0">
            <a:extLst xmlns:a="http://schemas.openxmlformats.org/drawingml/2006/main">
              <a:ext uri="{FF2B5EF4-FFF2-40B4-BE49-F238E27FC236}">
                <a16:creationId xmlns:a16="http://schemas.microsoft.com/office/drawing/2014/main" id="{C28AB322-E954-4011-A867-9EC33049AB4C}"/>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炭黑 #211D28</a:t>
            </a:r>
          </a:p>
        </p:txBody>
      </p:sp>
      <p:sp>
        <p:nvSpPr>
          <p:cNvPr id="16" name="palette-1">
            <a:extLst xmlns:a="http://schemas.openxmlformats.org/drawingml/2006/main">
              <a:ext uri="{FF2B5EF4-FFF2-40B4-BE49-F238E27FC236}">
                <a16:creationId xmlns:a16="http://schemas.microsoft.com/office/drawing/2014/main" id="{A26D4DB9-8300-401F-9120-0793F4CCB779}"/>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旧石灰岩 #A99D88</a:t>
            </a:r>
          </a:p>
        </p:txBody>
      </p:sp>
      <p:sp>
        <p:nvSpPr>
          <p:cNvPr id="17" name="palette-2">
            <a:extLst xmlns:a="http://schemas.openxmlformats.org/drawingml/2006/main">
              <a:ext uri="{FF2B5EF4-FFF2-40B4-BE49-F238E27FC236}">
                <a16:creationId xmlns:a16="http://schemas.microsoft.com/office/drawing/2014/main" id="{CAC11559-7B44-49D7-A93E-725341D2EB98}"/>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暗红绒布 #6F263C</a:t>
            </a:r>
          </a:p>
        </p:txBody>
      </p:sp>
      <p:sp>
        <p:nvSpPr>
          <p:cNvPr id="18" name="palette-3">
            <a:extLst xmlns:a="http://schemas.openxmlformats.org/drawingml/2006/main">
              <a:ext uri="{FF2B5EF4-FFF2-40B4-BE49-F238E27FC236}">
                <a16:creationId xmlns:a16="http://schemas.microsoft.com/office/drawing/2014/main" id="{A889FB4A-E961-4D60-9FAD-1B8BF43F13D9}"/>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记忆紫光 #A89BD4</a:t>
            </a:r>
          </a:p>
        </p:txBody>
      </p:sp>
      <p:sp>
        <p:nvSpPr>
          <p:cNvPr id="19" name="page">
            <a:extLst xmlns:a="http://schemas.openxmlformats.org/drawingml/2006/main">
              <a:ext uri="{FF2B5EF4-FFF2-40B4-BE49-F238E27FC236}">
                <a16:creationId xmlns:a16="http://schemas.microsoft.com/office/drawing/2014/main" id="{233F3333-0A07-4DA4-848E-1C6F1EFA939A}"/>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1 / 2</a:t>
            </a:r>
          </a:p>
        </p:txBody>
      </p:sp>
    </p:spTree>
    <p:extLst>
      <p:ext uri="{BB962C8B-B14F-4D97-AF65-F5344CB8AC3E}">
        <p14:creationId xmlns:p14="http://schemas.microsoft.com/office/powerpoint/2010/main" val="916890457"/>
      </p:ext>
    </p:extLst>
  </p:cSld>
</p:sld>
</file>

<file path=ppt/slides/slide2.xml><?xml version="1.0" encoding="utf-8"?>
<p:sld xmlns:p="http://schemas.openxmlformats.org/presentationml/2006/main">
  <p:cSld>
    <p:bg>
      <p:bgPr>
        <a:solidFill xmlns:a="http://schemas.openxmlformats.org/drawingml/2006/main">
          <a:srgbClr val="1A1520"/>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DCACB9C-78EC-405E-9376-D56698DB5D2A}"/>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吞噬记忆的古堡：素材清单</a:t>
            </a:r>
          </a:p>
        </p:txBody>
      </p:sp>
      <p:sp>
        <p:nvSpPr>
          <p:cNvPr id="2" name="priority">
            <a:extLst xmlns:a="http://schemas.openxmlformats.org/drawingml/2006/main">
              <a:ext uri="{FF2B5EF4-FFF2-40B4-BE49-F238E27FC236}">
                <a16:creationId xmlns:a16="http://schemas.microsoft.com/office/drawing/2014/main" id="{599398F5-622A-401D-B469-A8A8024AB796}"/>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3A1B4"/>
                </a:solidFill>
                <a:latin typeface="Microsoft YaHei"/>
                <a:ea typeface="Microsoft YaHei"/>
                <a:cs typeface="Microsoft YaHei"/>
              </a:defRPr>
            </a:defPPr>
          </a:lstStyle>
          <a:p xmlns:a="http://schemas.openxmlformats.org/drawingml/2006/main">
            <a:pPr>
              <a:defRPr sz="1875" b="0">
                <a:solidFill>
                  <a:srgbClr val="D3A1B4"/>
                </a:solidFill>
                <a:latin typeface="Microsoft YaHei"/>
                <a:ea typeface="Microsoft YaHei"/>
                <a:cs typeface="Microsoft YaHei"/>
              </a:defRPr>
            </a:pPr>
            <a:r>
              <a:rPr sz="1875" b="0">
                <a:solidFill>
                  <a:srgbClr val="D3A1B4"/>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4C68E39F-F8D2-4940-8CC2-2650120EE40D}"/>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3A1B4"/>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c>
                  <a:txBody>
                    <a:bodyPr wrap="square" lIns="114300" tIns="95250" rIns="95250" bIns="95250">
                      <a:noAutofit/>
                    </a:bodyPr>
                    <a:lstStyle/>
                    <a:p>
                      <a:r>
                        <a:rPr sz="1800" b="1">
                          <a:solidFill>
                            <a:srgbClr val="D3A1B4"/>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A152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尖拱、石柱、门框</a:t>
                      </a:r>
                    </a:p>
                    <a:p>
                      <a:r>
                        <a:rPr sz="1725" b="0">
                          <a:solidFill>
                            <a:srgbClr val="EBE8E1"/>
                          </a:solidFill>
                          <a:latin typeface="Microsoft YaHei"/>
                          <a:ea typeface="Microsoft YaHei"/>
                          <a:cs typeface="Microsoft YaHei"/>
                        </a:rPr>
                        <a:t>画像框、烛台、挂帘</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风化石灰岩、红绒布</a:t>
                      </a:r>
                    </a:p>
                    <a:p>
                      <a:r>
                        <a:rPr sz="1725" b="0">
                          <a:solidFill>
                            <a:srgbClr val="EBE8E1"/>
                          </a:solidFill>
                          <a:latin typeface="Microsoft YaHei"/>
                          <a:ea typeface="Microsoft YaHei"/>
                          <a:cs typeface="Microsoft YaHei"/>
                        </a:rPr>
                        <a:t>灰尘、裂纹、蜡痕贴花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壁龛、展示柜、石棺</a:t>
                      </a:r>
                    </a:p>
                    <a:p>
                      <a:r>
                        <a:rPr sz="1725" b="0">
                          <a:solidFill>
                            <a:srgbClr val="EBE8E1"/>
                          </a:solidFill>
                          <a:latin typeface="Microsoft YaHei"/>
                          <a:ea typeface="Microsoft YaHei"/>
                          <a:cs typeface="Microsoft YaHei"/>
                        </a:rPr>
                        <a:t>怀表、吊坠、记忆晶体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旧纸、裂纹玻璃、黑晶</a:t>
                      </a:r>
                    </a:p>
                    <a:p>
                      <a:r>
                        <a:rPr sz="1725" b="0">
                          <a:solidFill>
                            <a:srgbClr val="EBE8E1"/>
                          </a:solidFill>
                          <a:latin typeface="Microsoft YaHei"/>
                          <a:ea typeface="Microsoft YaHei"/>
                          <a:cs typeface="Microsoft YaHei"/>
                        </a:rPr>
                        <a:t>擦除肖像、紫光遮罩</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王座、大画框、祭坛</a:t>
                      </a:r>
                    </a:p>
                    <a:p>
                      <a:r>
                        <a:rPr sz="1725" b="0">
                          <a:solidFill>
                            <a:srgbClr val="EBE8E1"/>
                          </a:solidFill>
                          <a:latin typeface="Microsoft YaHei"/>
                          <a:ea typeface="Microsoft YaHei"/>
                          <a:cs typeface="Microsoft YaHei"/>
                        </a:rPr>
                        <a:t>台阶、坡道、石质掩体</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雕花石材、磨损镀金</a:t>
                      </a:r>
                    </a:p>
                    <a:p>
                      <a:r>
                        <a:rPr sz="1725" b="0">
                          <a:solidFill>
                            <a:srgbClr val="EBE8E1"/>
                          </a:solidFill>
                          <a:latin typeface="Microsoft YaHei"/>
                          <a:ea typeface="Microsoft YaHei"/>
                          <a:cs typeface="Microsoft YaHei"/>
                        </a:rPr>
                        <a:t>破损纹章、腐蚀贴花</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无面守卫、宫廷重甲</a:t>
                      </a:r>
                    </a:p>
                    <a:p>
                      <a:r>
                        <a:rPr sz="1725" b="0">
                          <a:solidFill>
                            <a:srgbClr val="EBE8E1"/>
                          </a:solidFill>
                          <a:latin typeface="Microsoft YaHei"/>
                          <a:ea typeface="Microsoft YaHei"/>
                          <a:cs typeface="Microsoft YaHei"/>
                        </a:rPr>
                        <a:t>古式卡宾枪、装饰护甲</a:t>
                      </a:r>
                    </a:p>
                  </a:txBody>
                  <a:tcPr marL="91440" marR="91440" marT="45720" marB="45720" anchor="ctr">
                    <a:lnR w="4763">
                      <a:solidFill>
                        <a:srgbClr val="52616A"/>
                      </a:solidFill>
                      <a:prstDash val="solid"/>
                    </a:lnR>
                    <a:lnB w="4763">
                      <a:solidFill>
                        <a:srgbClr val="52616A"/>
                      </a:solidFill>
                      <a:prstDash val="solid"/>
                    </a:lnB>
                    <a:solidFill>
                      <a:srgbClr val="2B2230"/>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旧银、黑铁、刺绣布料</a:t>
                      </a:r>
                    </a:p>
                    <a:p>
                      <a:r>
                        <a:rPr sz="1725" b="0">
                          <a:solidFill>
                            <a:srgbClr val="EBE8E1"/>
                          </a:solidFill>
                          <a:latin typeface="Microsoft YaHei"/>
                          <a:ea typeface="Microsoft YaHei"/>
                          <a:cs typeface="Microsoft YaHei"/>
                        </a:rPr>
                        <a:t>护甲磨损、面部空白</a:t>
                      </a:r>
                    </a:p>
                  </a:txBody>
                  <a:tcPr marL="91440" marR="91440" marT="45720" marB="45720" anchor="ctr">
                    <a:lnR w="4763">
                      <a:solidFill>
                        <a:srgbClr val="52616A"/>
                      </a:solidFill>
                      <a:prstDash val="solid"/>
                    </a:lnR>
                    <a:lnB w="4763">
                      <a:solidFill>
                        <a:srgbClr val="52616A"/>
                      </a:solidFill>
                      <a:prstDash val="solid"/>
                    </a:lnB>
                    <a:solidFill>
                      <a:srgbClr val="2B2230"/>
                    </a:solidFill>
                  </a:tcPr>
                </a:tc>
              </a:tr>
            </a:tbl>
          </a:graphicData>
        </a:graphic>
      </p:graphicFrame>
      <p:pic>
        <p:nvPicPr>
          <p:cNvPr id="4" name="">
            <a:extLst xmlns:a="http://schemas.openxmlformats.org/drawingml/2006/main">
              <a:ext uri="{FF2B5EF4-FFF2-40B4-BE49-F238E27FC236}">
                <a16:creationId xmlns:a16="http://schemas.microsoft.com/office/drawing/2014/main" id="{4EF42B3B-FF6A-426C-9C32-BD5960C3C92B}"/>
              </a:ext>
            </a:extLst>
          </p:cNvPr>
          <p:cNvPicPr>
            <a:picLocks xmlns:a="http://schemas.openxmlformats.org/drawingml/2006/main" noChangeAspect="1"/>
          </p:cNvPicPr>
          <p:nvPr/>
        </p:nvPicPr>
        <p:blipFill>
          <a:blip xmlns:r="http://schemas.openxmlformats.org/officeDocument/2006/relationships" xmlns:a="http://schemas.openxmlformats.org/drawingml/2006/main" r:embed="R1ca33ed3f26e4083"/>
          <a:stretch xmlns:a="http://schemas.openxmlformats.org/drawingml/2006/main"/>
        </p:blipFill>
        <p:spPr>
          <a:xfrm xmlns:a="http://schemas.openxmlformats.org/drawingml/2006/main">
            <a:off x="8743950" y="1659583"/>
            <a:ext cx="2990850" cy="1681459"/>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6B15AB8C-3624-4A3C-8F93-654652B482E6}"/>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B0BE"/>
                </a:solidFill>
                <a:latin typeface="Microsoft YaHei"/>
                <a:ea typeface="Microsoft YaHei"/>
                <a:cs typeface="Microsoft YaHei"/>
              </a:defRPr>
            </a:defPPr>
          </a:lstStyle>
          <a:p xmlns:a="http://schemas.openxmlformats.org/drawingml/2006/main">
            <a:pPr>
              <a:defRPr sz="1350" b="0">
                <a:solidFill>
                  <a:srgbClr val="BCB0BE"/>
                </a:solidFill>
                <a:latin typeface="Microsoft YaHei"/>
                <a:ea typeface="Microsoft YaHei"/>
                <a:cs typeface="Microsoft YaHei"/>
              </a:defRPr>
            </a:pPr>
            <a:r>
              <a:rPr sz="1350" b="0">
                <a:solidFill>
                  <a:srgbClr val="BCB0BE"/>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0E15550F-BF5D-4B1B-8B17-4A4DA2C76FB6}"/>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3A1B4"/>
                </a:solidFill>
                <a:latin typeface="Microsoft YaHei"/>
                <a:ea typeface="Microsoft YaHei"/>
                <a:cs typeface="Microsoft YaHei"/>
              </a:defRPr>
            </a:defPPr>
          </a:lstStyle>
          <a:p xmlns:a="http://schemas.openxmlformats.org/drawingml/2006/main">
            <a:pPr>
              <a:defRPr sz="1875" b="1">
                <a:solidFill>
                  <a:srgbClr val="D3A1B4"/>
                </a:solidFill>
                <a:latin typeface="Microsoft YaHei"/>
                <a:ea typeface="Microsoft YaHei"/>
                <a:cs typeface="Microsoft YaHei"/>
              </a:defRPr>
            </a:pPr>
            <a:r>
              <a:rPr sz="1875" b="1">
                <a:solidFill>
                  <a:srgbClr val="D3A1B4"/>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47D50C89-69AC-4A18-9C99-74A32BE62CE7}"/>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gothic modular kit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portrait frame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faceless armor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velvet PBR</a:t>
            </a:r>
          </a:p>
        </p:txBody>
      </p:sp>
      <p:sp>
        <p:nvSpPr>
          <p:cNvPr id="8" name="extension">
            <a:extLst xmlns:a="http://schemas.openxmlformats.org/drawingml/2006/main">
              <a:ext uri="{FF2B5EF4-FFF2-40B4-BE49-F238E27FC236}">
                <a16:creationId xmlns:a16="http://schemas.microsoft.com/office/drawing/2014/main" id="{3143AC7A-7E5B-49BD-9B92-13B95B20B9FD}"/>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3A1B4"/>
                </a:solidFill>
                <a:latin typeface="Microsoft YaHei"/>
                <a:ea typeface="Microsoft YaHei"/>
                <a:cs typeface="Microsoft YaHei"/>
              </a:defRPr>
            </a:defPPr>
          </a:lstStyle>
          <a:p xmlns:a="http://schemas.openxmlformats.org/drawingml/2006/main">
            <a:pPr>
              <a:defRPr sz="1725" b="0">
                <a:solidFill>
                  <a:srgbClr val="D3A1B4"/>
                </a:solidFill>
                <a:latin typeface="Microsoft YaHei"/>
                <a:ea typeface="Microsoft YaHei"/>
                <a:cs typeface="Microsoft YaHei"/>
              </a:defRPr>
            </a:pPr>
            <a:r>
              <a:rPr sz="1725" b="0">
                <a:solidFill>
                  <a:srgbClr val="D3A1B4"/>
                </a:solidFill>
                <a:latin typeface="Microsoft YaHei"/>
                <a:ea typeface="Microsoft YaHei"/>
                <a:cs typeface="Microsoft YaHei"/>
              </a:rPr>
              <a:t>P1 氛围扩展：漂浮字迹、画像褪色、晶体微光。首版用静态贴图讲故事。</a:t>
            </a:r>
          </a:p>
        </p:txBody>
      </p:sp>
      <p:sp>
        <p:nvSpPr>
          <p:cNvPr id="9" name="requirements">
            <a:extLst xmlns:a="http://schemas.openxmlformats.org/drawingml/2006/main">
              <a:ext uri="{FF2B5EF4-FFF2-40B4-BE49-F238E27FC236}">
                <a16:creationId xmlns:a16="http://schemas.microsoft.com/office/drawing/2014/main" id="{58C0336A-A933-4002-A422-7331E113E616}"/>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EF250BC9-5E51-40B5-9164-0857F6E5CF90}"/>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CB0BE"/>
                </a:solidFill>
                <a:latin typeface="Microsoft YaHei"/>
                <a:ea typeface="Microsoft YaHei"/>
                <a:cs typeface="Microsoft YaHei"/>
              </a:defRPr>
            </a:defPPr>
          </a:lstStyle>
          <a:p xmlns:a="http://schemas.openxmlformats.org/drawingml/2006/main">
            <a:pPr>
              <a:defRPr sz="1200" b="0">
                <a:solidFill>
                  <a:srgbClr val="BCB0BE"/>
                </a:solidFill>
                <a:latin typeface="Microsoft YaHei"/>
                <a:ea typeface="Microsoft YaHei"/>
                <a:cs typeface="Microsoft YaHei"/>
              </a:defRPr>
            </a:pPr>
            <a:r>
              <a:rPr sz="1200" b="0">
                <a:solidFill>
                  <a:srgbClr val="BCB0BE"/>
                </a:solidFill>
                <a:latin typeface="Microsoft YaHei"/>
                <a:ea typeface="Microsoft YaHei"/>
                <a:cs typeface="Microsoft YaHei"/>
              </a:rPr>
              <a:t>2 / 2</a:t>
            </a:r>
          </a:p>
        </p:txBody>
      </p:sp>
    </p:spTree>
    <p:extLst>
      <p:ext uri="{BB962C8B-B14F-4D97-AF65-F5344CB8AC3E}">
        <p14:creationId xmlns:p14="http://schemas.microsoft.com/office/powerpoint/2010/main" val="1708001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2026-10-13T08:02:49.7570000Z</dcterms:created>
  <dcterms:modified xsi:type="dcterms:W3CDTF">2026-10-13T08:02:49.7570000Z</dcterms:modified>
</coreProperties>
</file>