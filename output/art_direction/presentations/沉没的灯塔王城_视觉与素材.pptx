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f5e1a52c8042b2" /><Relationship Type="http://schemas.openxmlformats.org/officeDocument/2006/relationships/extended-properties" Target="/docProps/app.xml" Id="R3319e1bc17e848a2" /><Relationship Type="http://schemas.openxmlformats.org/officeDocument/2006/relationships/officeDocument" Target="/ppt/presentation.xml" Id="Rb283de6fcd724620" /></Relationships>
</file>

<file path=ppt/presentation.xml><?xml version="1.0" encoding="utf-8"?>
<p:presentation xmlns:p="http://schemas.openxmlformats.org/presentationml/2006/main">
  <p:sldMasterIdLst>
    <p:sldMasterId xmlns:r="http://schemas.openxmlformats.org/officeDocument/2006/relationships" id="2147483648" r:id="Rc98505729e7b4177"/>
  </p:sldMasterIdLst>
  <p:notesMasterIdLst>
    <p:notesMasterId xmlns:r="http://schemas.openxmlformats.org/officeDocument/2006/relationships" r:id="R032a1d16cd404d22"/>
  </p:notesMasterIdLst>
  <p:sldIdLst>
    <p:sldId xmlns:r="http://schemas.openxmlformats.org/officeDocument/2006/relationships" id="256" r:id="R23806083731e43c5"/>
    <p:sldId xmlns:r="http://schemas.openxmlformats.org/officeDocument/2006/relationships" id="257" r:id="R65a3ecabd99444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a2f39695154c12" /><Relationship Type="http://schemas.openxmlformats.org/officeDocument/2006/relationships/slideMaster" Target="/ppt/slideMasters/slideMaster1.xml" Id="Rc98505729e7b4177" /><Relationship Type="http://schemas.openxmlformats.org/officeDocument/2006/relationships/notesMaster" Target="/ppt/notesMasters/notesMaster1.xml" Id="R032a1d16cd404d22" /><Relationship Type="http://schemas.openxmlformats.org/officeDocument/2006/relationships/presProps" Target="/ppt/presProps.xml" Id="Rb477da41121a4167" /><Relationship Type="http://schemas.openxmlformats.org/officeDocument/2006/relationships/tableStyles" Target="/ppt/tableStyles.xml" Id="R4b3394cffd494155" /><Relationship Type="http://schemas.openxmlformats.org/officeDocument/2006/relationships/slide" Target="/ppt/slides/slide1.xml" Id="R23806083731e43c5" /><Relationship Type="http://schemas.openxmlformats.org/officeDocument/2006/relationships/slide" Target="/ppt/slides/slide2.xml" Id="R65a3ecabd994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7175babc054a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aa4bb0738c41da" /><Relationship Type="http://schemas.openxmlformats.org/officeDocument/2006/relationships/notesMaster" Target="/ppt/notesMasters/notesMaster1.xml" Id="Rbbde6fba86cb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d0fe6637334d59" /><Relationship Type="http://schemas.openxmlformats.org/officeDocument/2006/relationships/notesMaster" Target="/ppt/notesMasters/notesMaster1.xml" Id="R3feb230eb7f547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game art direction presentation, cinematic environment concept. Landscape 16:9 painterly 3D game environment concept for a drowned lighthouse royal city. Explore an air-filled abandoned fortress hall above floodwater, vaulted salt-eroded stone, oxidized green copper pipes, rusty wrought iron platforms, coral and barnacles along the lower walls, shallow still puddles, harbor ropes and navigation relics. Tall windows show a cold dark sea and a distant lighthouse beam. A small armored drowned sailor sentinel for scale. Elevated dry maintenance decks and ramps surround a lighthouse machinery arena, amber lanterns mark the usable route. Dark ocean navy #17333E, patinated copper #4D887C, salted stone #B8B3A4, rust #9B5136, lantern amber #E7B55A. Moody but physically readable, stylized physically based material study, no need for complex fluid effects, no text, labels, logos, watermark or HUD.</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主题提案，故事与视觉均为原创设计建议，尚未确定为最终游戏设定。</a:t>
            </a:r>
          </a:p>
          <a:p xmlns:a="http://schemas.openxmlformats.org/drawingml/2006/main">
            <a:r>
              <a:t>图片为内置 image_gen 生成的概念图，不是游戏截图，也不是可直接导入的模型或材质。</a:t>
            </a:r>
          </a:p>
          <a:p xmlns:a="http://schemas.openxmlformats.org/drawingml/2006/main">
            <a:r>
              <a:t>生成提示词：Use case: stylized-concept. Asset type: material and modeling reference board for game art. Cohesive wide 16:9 studio tabletop composition on dark ocean navy background showing assets for a drowned lighthouse city: salt-eroded stone arch module behind, corroded copper pipe elbow and a lighthouse lens assembly, rusty grated catwalk section, nautical rope and winch, a weathered amber lantern, a barnacle-encrusted armored sailor sentinel with a nautical harpoon-shaped carbine, a navigation compass relic. Natural sample chunks of copper patina, rusty iron, salt-stained stone and barnacles in the foreground. Spacious legible original prop designs, painterly game concept render, cold soft light with warm lantern amber, rough physically based surfaces, no text, labels, cards, UI, logos or watermark. Moodboard references, not final models.</a:t>
            </a:r>
          </a:p>
          <a:p xmlns:a="http://schemas.openxmlformats.org/drawingml/2006/main">
            <a:r>
              <a:t/>
            </a:r>
          </a:p>
          <a:p xmlns:a="http://schemas.openxmlformats.org/drawingml/2006/main">
            <a:r>
              <a:t>素材搜集要求：优先可拼接建筑模块，检查底部枢轴、统一厘米尺度、UV、简单碰撞与可步行面。角色需要骨骼、基础待机/移动/受击动画，武器需要独立可拆部件。PBR贴图至少包括Base Color、Normal、Roughness、AO，金属件另需Metallic，能源或灯具另需Emissive遮罩。建议首版采用2K可平铺材质及独立贴花。按项目使用范围核对授权和来源，保持同一写实或风格化程度。关键词用于检索素材类型，不指向已验证的具体商品。</a:t>
            </a:r>
          </a:p>
          <a:p xmlns:a="http://schemas.openxmlformats.org/drawingml/2006/main">
            <a:r>
              <a:t/>
            </a:r>
          </a:p>
          <a:p xmlns:a="http://schemas.openxmlformats.org/drawingml/2006/main">
            <a:r>
              <a:t>P1 氛围扩展：海雾、扫光、窗外海面。首版用静态积水，主路线保持干燥。</a:t>
            </a:r>
          </a:p>
          <a:p xmlns:a="http://schemas.openxmlformats.org/drawingml/2006/main">
            <a:r>
              <a:t>配色：深海蓝 #17333E, 铜绿 #4D887C, 盐蚀石灰 #B8B3A4, 灯笼琥珀 #E7B55A</a:t>
            </a:r>
          </a:p>
          <a:p xmlns:a="http://schemas.openxmlformats.org/drawingml/2006/main">
            <a:r>
              <a:t>核心材质：盐蚀石、铜绿、锈铁。冷色环境中，用暖灯标记可通行路线。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88aaa93d5447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6e567c1bb240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c8ac1fc50746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ddffb979ff4a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f8467670a74c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4c78edc9a34d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84889E-6D87-48A6-AAF8-4919AAD84E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0A02B6D-0D49-444C-B9DD-5822D9BD36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FB9E15-6D12-4BC3-8FAB-FEF9A13C1D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CF7570-AD69-44A7-9676-47897C4631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308BE8-4D4D-42C1-96D2-F5C5AA4210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D17F99-E433-4E49-9D5F-D9C77E016D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52CCF5-DEE0-4DEB-BFBA-3068161388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3924C4-0194-4996-A667-E120CE5A9D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B9192E-DA81-4691-8614-269FF58553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D2FE84-BDCC-435A-A3C2-17F793B9DF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0fd85a56264fa2" /><Relationship Type="http://schemas.openxmlformats.org/officeDocument/2006/relationships/slideLayout" Target="/ppt/slideLayouts/slideLayout1.xml" Id="Rc3e6ef6db94c4094" /><Relationship Type="http://schemas.openxmlformats.org/officeDocument/2006/relationships/slideLayout" Target="/ppt/slideLayouts/slideLayout2.xml" Id="Rce7041ac13a142f6" /><Relationship Type="http://schemas.openxmlformats.org/officeDocument/2006/relationships/slideLayout" Target="/ppt/slideLayouts/slideLayout3.xml" Id="R7289b48f11154faa" /><Relationship Type="http://schemas.openxmlformats.org/officeDocument/2006/relationships/slideLayout" Target="/ppt/slideLayouts/slideLayout4.xml" Id="Rbea984cdaf7c4f6e" /><Relationship Type="http://schemas.openxmlformats.org/officeDocument/2006/relationships/slideLayout" Target="/ppt/slideLayouts/slideLayout5.xml" Id="R62d43e82f7d4449d" /><Relationship Type="http://schemas.openxmlformats.org/officeDocument/2006/relationships/slideLayout" Target="/ppt/slideLayouts/slideLayout6.xml" Id="Rd6c1e8f83c5f47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e6ef6db94c4094"/>
    <p:sldLayoutId xmlns:r="http://schemas.openxmlformats.org/officeDocument/2006/relationships" id="2147483650" r:id="Rce7041ac13a142f6"/>
    <p:sldLayoutId xmlns:r="http://schemas.openxmlformats.org/officeDocument/2006/relationships" id="2147483651" r:id="R7289b48f11154faa"/>
    <p:sldLayoutId xmlns:r="http://schemas.openxmlformats.org/officeDocument/2006/relationships" id="2147483652" r:id="Rbea984cdaf7c4f6e"/>
    <p:sldLayoutId xmlns:r="http://schemas.openxmlformats.org/officeDocument/2006/relationships" id="2147483653" r:id="R62d43e82f7d4449d"/>
    <p:sldLayoutId xmlns:r="http://schemas.openxmlformats.org/officeDocument/2006/relationships" id="2147483654" r:id="Rd6c1e8f83c5f47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be64c200c84207" /><Relationship Type="http://schemas.openxmlformats.org/officeDocument/2006/relationships/image" Target="/ppt/media/image.png" Id="R7f446452ee8b4dfb" /><Relationship Type="http://schemas.openxmlformats.org/officeDocument/2006/relationships/notesSlide" Target="/ppt/notesSlides/notesSlide1.xml" Id="R6168ee9fefa444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51144687124c42" /><Relationship Type="http://schemas.openxmlformats.org/officeDocument/2006/relationships/image" Target="/ppt/media/image2.png" Id="Rd3a38eefc81743e4" /><Relationship Type="http://schemas.openxmlformats.org/officeDocument/2006/relationships/notesSlide" Target="/ppt/notesSlides/notesSlide2.xml" Id="Rd492b227f1ab4b1d" /></Relationships>
</file>

<file path=ppt/slides/slide1.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28D460F2-F839-4610-B233-E49B5318962D}"/>
              </a:ext>
            </a:extLst>
          </p:cNvPr>
          <p:cNvSpPr>
            <a:spLocks xmlns:a="http://schemas.openxmlformats.org/drawingml/2006/main" noGrp="1"/>
          </p:cNvSpPr>
          <p:nvPr/>
        </p:nvSpPr>
        <p:spPr>
          <a:xfrm xmlns:a="http://schemas.openxmlformats.org/drawingml/2006/main">
            <a:off x="457200" y="285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E2B46C"/>
                </a:solidFill>
                <a:latin typeface="Microsoft YaHei"/>
                <a:ea typeface="Microsoft YaHei"/>
                <a:cs typeface="Microsoft YaHei"/>
              </a:defRPr>
            </a:defPPr>
          </a:lstStyle>
          <a:p xmlns:a="http://schemas.openxmlformats.org/drawingml/2006/main">
            <a:pPr>
              <a:defRPr sz="1650" b="0">
                <a:solidFill>
                  <a:srgbClr val="E2B46C"/>
                </a:solidFill>
                <a:latin typeface="Microsoft YaHei"/>
                <a:ea typeface="Microsoft YaHei"/>
                <a:cs typeface="Microsoft YaHei"/>
              </a:defRPr>
            </a:pPr>
            <a:r>
              <a:rPr sz="1650" b="0">
                <a:solidFill>
                  <a:srgbClr val="E2B46C"/>
                </a:solidFill>
                <a:latin typeface="Microsoft YaHei"/>
                <a:ea typeface="Microsoft YaHei"/>
                <a:cs typeface="Microsoft YaHei"/>
              </a:rPr>
              <a:t>03  世界观与视觉</a:t>
            </a:r>
          </a:p>
        </p:txBody>
      </p:sp>
      <p:sp>
        <p:nvSpPr>
          <p:cNvPr id="2" name="title">
            <a:extLst xmlns:a="http://schemas.openxmlformats.org/drawingml/2006/main">
              <a:ext uri="{FF2B5EF4-FFF2-40B4-BE49-F238E27FC236}">
                <a16:creationId xmlns:a16="http://schemas.microsoft.com/office/drawing/2014/main" id="{8FD83655-A7C7-4402-AB85-DFBD88506FF4}"/>
              </a:ext>
            </a:extLst>
          </p:cNvPr>
          <p:cNvSpPr>
            <a:spLocks xmlns:a="http://schemas.openxmlformats.org/drawingml/2006/main" noGrp="1"/>
          </p:cNvSpPr>
          <p:nvPr/>
        </p:nvSpPr>
        <p:spPr>
          <a:xfrm xmlns:a="http://schemas.openxmlformats.org/drawingml/2006/main">
            <a:off x="457200" y="847725"/>
            <a:ext cx="3714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2EFE8"/>
                </a:solidFill>
                <a:latin typeface="Microsoft YaHei"/>
                <a:ea typeface="Microsoft YaHei"/>
                <a:cs typeface="Microsoft YaHei"/>
              </a:defRPr>
            </a:defPPr>
          </a:lstStyle>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沉没的</a:t>
            </a:r>
          </a:p>
          <a:p xmlns:a="http://schemas.openxmlformats.org/drawingml/2006/main">
            <a:pPr>
              <a:defRPr sz="4350" b="1">
                <a:solidFill>
                  <a:srgbClr val="F2EFE8"/>
                </a:solidFill>
                <a:latin typeface="Microsoft YaHei"/>
                <a:ea typeface="Microsoft YaHei"/>
                <a:cs typeface="Microsoft YaHei"/>
              </a:defRPr>
            </a:pPr>
            <a:r>
              <a:rPr sz="4350" b="1">
                <a:solidFill>
                  <a:srgbClr val="F2EFE8"/>
                </a:solidFill>
                <a:latin typeface="Microsoft YaHei"/>
                <a:ea typeface="Microsoft YaHei"/>
                <a:cs typeface="Microsoft YaHei"/>
              </a:rPr>
              <a:t>灯塔王城</a:t>
            </a:r>
          </a:p>
        </p:txBody>
      </p:sp>
      <p:sp>
        <p:nvSpPr>
          <p:cNvPr id="3" name="subtitle">
            <a:extLst xmlns:a="http://schemas.openxmlformats.org/drawingml/2006/main">
              <a:ext uri="{FF2B5EF4-FFF2-40B4-BE49-F238E27FC236}">
                <a16:creationId xmlns:a16="http://schemas.microsoft.com/office/drawing/2014/main" id="{48BDDFE2-BFBD-418E-A78F-E9085629C039}"/>
              </a:ext>
            </a:extLst>
          </p:cNvPr>
          <p:cNvSpPr>
            <a:spLocks xmlns:a="http://schemas.openxmlformats.org/drawingml/2006/main" noGrp="1"/>
          </p:cNvSpPr>
          <p:nvPr/>
        </p:nvSpPr>
        <p:spPr>
          <a:xfrm xmlns:a="http://schemas.openxmlformats.org/drawingml/2006/main">
            <a:off x="457200" y="2457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2B46C"/>
                </a:solidFill>
                <a:latin typeface="Microsoft YaHei"/>
                <a:ea typeface="Microsoft YaHei"/>
                <a:cs typeface="Microsoft YaHei"/>
              </a:defRPr>
            </a:defPPr>
          </a:lstStyle>
          <a:p xmlns:a="http://schemas.openxmlformats.org/drawingml/2006/main">
            <a:pPr>
              <a:defRPr sz="2025" b="0">
                <a:solidFill>
                  <a:srgbClr val="E2B46C"/>
                </a:solidFill>
                <a:latin typeface="Microsoft YaHei"/>
                <a:ea typeface="Microsoft YaHei"/>
                <a:cs typeface="Microsoft YaHei"/>
              </a:defRPr>
            </a:pPr>
            <a:r>
              <a:rPr sz="2025" b="0">
                <a:solidFill>
                  <a:srgbClr val="E2B46C"/>
                </a:solidFill>
                <a:latin typeface="Microsoft YaHei"/>
                <a:ea typeface="Microsoft YaHei"/>
                <a:cs typeface="Microsoft YaHei"/>
              </a:rPr>
              <a:t>盐蚀石墙，仍在发光的灯塔</a:t>
            </a:r>
          </a:p>
        </p:txBody>
      </p:sp>
      <p:sp>
        <p:nvSpPr>
          <p:cNvPr id="4" name="story-label">
            <a:extLst xmlns:a="http://schemas.openxmlformats.org/drawingml/2006/main">
              <a:ext uri="{FF2B5EF4-FFF2-40B4-BE49-F238E27FC236}">
                <a16:creationId xmlns:a16="http://schemas.microsoft.com/office/drawing/2014/main" id="{8318681C-777A-47E1-A4A8-D02D89EAA698}"/>
              </a:ext>
            </a:extLst>
          </p:cNvPr>
          <p:cNvSpPr>
            <a:spLocks xmlns:a="http://schemas.openxmlformats.org/drawingml/2006/main" noGrp="1"/>
          </p:cNvSpPr>
          <p:nvPr/>
        </p:nvSpPr>
        <p:spPr>
          <a:xfrm xmlns:a="http://schemas.openxmlformats.org/drawingml/2006/main">
            <a:off x="457200" y="31527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故事设定</a:t>
            </a:r>
          </a:p>
        </p:txBody>
      </p:sp>
      <p:sp>
        <p:nvSpPr>
          <p:cNvPr id="5" name="story">
            <a:extLst xmlns:a="http://schemas.openxmlformats.org/drawingml/2006/main">
              <a:ext uri="{FF2B5EF4-FFF2-40B4-BE49-F238E27FC236}">
                <a16:creationId xmlns:a16="http://schemas.microsoft.com/office/drawing/2014/main" id="{2B94B0F4-3D32-497D-9A30-B6AB93B24CA6}"/>
              </a:ext>
            </a:extLst>
          </p:cNvPr>
          <p:cNvSpPr>
            <a:spLocks xmlns:a="http://schemas.openxmlformats.org/drawingml/2006/main" noGrp="1"/>
          </p:cNvSpPr>
          <p:nvPr/>
        </p:nvSpPr>
        <p:spPr>
          <a:xfrm xmlns:a="http://schemas.openxmlformats.org/drawingml/2006/main">
            <a:off x="457200" y="3571875"/>
            <a:ext cx="3676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E2E0DC"/>
                </a:solidFill>
                <a:latin typeface="Microsoft YaHei"/>
                <a:ea typeface="Microsoft YaHei"/>
                <a:cs typeface="Microsoft YaHei"/>
              </a:defRPr>
            </a:defPPr>
          </a:lstStyle>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王城沉入海中，灯塔仍不断召唤归航者。玩家追寻一艘从未返航的船，进入废弃城堡。</a:t>
            </a:r>
          </a:p>
          <a:p xmlns:a="http://schemas.openxmlformats.org/drawingml/2006/main">
            <a:r>
              <a:t/>
            </a:r>
          </a:p>
          <a:p xmlns:a="http://schemas.openxmlformats.org/drawingml/2006/main">
            <a:pPr>
              <a:defRPr sz="1800" b="0">
                <a:solidFill>
                  <a:srgbClr val="E2E0DC"/>
                </a:solidFill>
                <a:latin typeface="Microsoft YaHei"/>
                <a:ea typeface="Microsoft YaHei"/>
                <a:cs typeface="Microsoft YaHei"/>
              </a:defRPr>
            </a:pPr>
            <a:r>
              <a:rPr sz="1800" b="0">
                <a:solidFill>
                  <a:srgbClr val="E2E0DC"/>
                </a:solidFill>
                <a:latin typeface="Microsoft YaHei"/>
                <a:ea typeface="Microsoft YaHei"/>
                <a:cs typeface="Microsoft YaHei"/>
              </a:rPr>
              <a:t>残存的守卫沿旧航线巡逻，港口记录藏着失踪者的去向。</a:t>
            </a:r>
          </a:p>
        </p:txBody>
      </p:sp>
      <p:sp>
        <p:nvSpPr>
          <p:cNvPr id="6" name="hook">
            <a:extLst xmlns:a="http://schemas.openxmlformats.org/drawingml/2006/main">
              <a:ext uri="{FF2B5EF4-FFF2-40B4-BE49-F238E27FC236}">
                <a16:creationId xmlns:a16="http://schemas.microsoft.com/office/drawing/2014/main" id="{537A5154-4969-43CD-827E-DEC7EE094CBF}"/>
              </a:ext>
            </a:extLst>
          </p:cNvPr>
          <p:cNvSpPr>
            <a:spLocks xmlns:a="http://schemas.openxmlformats.org/drawingml/2006/main" noGrp="1"/>
          </p:cNvSpPr>
          <p:nvPr/>
        </p:nvSpPr>
        <p:spPr>
          <a:xfrm xmlns:a="http://schemas.openxmlformats.org/drawingml/2006/main">
            <a:off x="457200" y="5381625"/>
            <a:ext cx="3714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8C1C5"/>
                </a:solidFill>
                <a:latin typeface="Microsoft YaHei"/>
                <a:ea typeface="Microsoft YaHei"/>
                <a:cs typeface="Microsoft YaHei"/>
              </a:defRPr>
            </a:defPPr>
          </a:lstStyle>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灯塔每次转过，</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就照出一条新的航线。</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最后一页航海日志，</a:t>
            </a:r>
          </a:p>
          <a:p xmlns:a="http://schemas.openxmlformats.org/drawingml/2006/main">
            <a:pPr>
              <a:defRPr sz="1650" b="0">
                <a:solidFill>
                  <a:srgbClr val="A8C1C5"/>
                </a:solidFill>
                <a:latin typeface="Microsoft YaHei"/>
                <a:ea typeface="Microsoft YaHei"/>
                <a:cs typeface="Microsoft YaHei"/>
              </a:defRPr>
            </a:pPr>
            <a:r>
              <a:rPr sz="1650" b="0">
                <a:solidFill>
                  <a:srgbClr val="A8C1C5"/>
                </a:solidFill>
                <a:latin typeface="Microsoft YaHei"/>
                <a:ea typeface="Microsoft YaHei"/>
                <a:cs typeface="Microsoft YaHei"/>
              </a:rPr>
              <a:t>记录着玩家今天的到来。</a:t>
            </a:r>
          </a:p>
        </p:txBody>
      </p:sp>
      <p:pic>
        <p:nvPicPr>
          <p:cNvPr id="7" name="">
            <a:extLst xmlns:a="http://schemas.openxmlformats.org/drawingml/2006/main">
              <a:ext uri="{FF2B5EF4-FFF2-40B4-BE49-F238E27FC236}">
                <a16:creationId xmlns:a16="http://schemas.microsoft.com/office/drawing/2014/main" id="{9C36F35F-A168-40DD-85DD-E1199D0F4589}"/>
              </a:ext>
            </a:extLst>
          </p:cNvPr>
          <p:cNvPicPr>
            <a:picLocks xmlns:a="http://schemas.openxmlformats.org/drawingml/2006/main" noChangeAspect="1"/>
          </p:cNvPicPr>
          <p:nvPr/>
        </p:nvPicPr>
        <p:blipFill>
          <a:blip xmlns:r="http://schemas.openxmlformats.org/officeDocument/2006/relationships" xmlns:a="http://schemas.openxmlformats.org/drawingml/2006/main" r:embed="R7f446452ee8b4dfb"/>
          <a:srcRect xmlns:a="http://schemas.openxmlformats.org/drawingml/2006/main" l="0" t="27" r="0" b="27"/>
          <a:stretch xmlns:a="http://schemas.openxmlformats.org/drawingml/2006/main">
            <a:fillRect l="0" t="0" r="0" b="0"/>
          </a:stretch>
        </p:blipFill>
        <p:spPr>
          <a:xfrm xmlns:a="http://schemas.openxmlformats.org/drawingml/2006/main">
            <a:off x="4572000" y="723900"/>
            <a:ext cx="7162800" cy="4029075"/>
          </a:xfrm>
          <a:prstGeom xmlns:a="http://schemas.openxmlformats.org/drawingml/2006/main" prst="rect">
            <a:avLst/>
          </a:prstGeom>
        </p:spPr>
      </p:pic>
      <p:sp>
        <p:nvSpPr>
          <p:cNvPr id="8" name="image-caption">
            <a:extLst xmlns:a="http://schemas.openxmlformats.org/drawingml/2006/main">
              <a:ext uri="{FF2B5EF4-FFF2-40B4-BE49-F238E27FC236}">
                <a16:creationId xmlns:a16="http://schemas.microsoft.com/office/drawing/2014/main" id="{DCF9673B-12AC-4FFD-AC01-7BF15C879CED}"/>
              </a:ext>
            </a:extLst>
          </p:cNvPr>
          <p:cNvSpPr>
            <a:spLocks xmlns:a="http://schemas.openxmlformats.org/drawingml/2006/main" noGrp="1"/>
          </p:cNvSpPr>
          <p:nvPr/>
        </p:nvSpPr>
        <p:spPr>
          <a:xfrm xmlns:a="http://schemas.openxmlformats.org/drawingml/2006/main">
            <a:off x="4572000" y="4838700"/>
            <a:ext cx="716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8C1C5"/>
                </a:solidFill>
                <a:latin typeface="Microsoft YaHei"/>
                <a:ea typeface="Microsoft YaHei"/>
                <a:cs typeface="Microsoft YaHei"/>
              </a:defRPr>
            </a:defPPr>
          </a:lstStyle>
          <a:p xmlns:a="http://schemas.openxmlformats.org/drawingml/2006/main">
            <a:pPr>
              <a:defRPr sz="1275" b="0">
                <a:solidFill>
                  <a:srgbClr val="A8C1C5"/>
                </a:solidFill>
                <a:latin typeface="Microsoft YaHei"/>
                <a:ea typeface="Microsoft YaHei"/>
                <a:cs typeface="Microsoft YaHei"/>
              </a:defRPr>
            </a:pPr>
            <a:r>
              <a:rPr sz="1275" b="0">
                <a:solidFill>
                  <a:srgbClr val="A8C1C5"/>
                </a:solidFill>
                <a:latin typeface="Microsoft YaHei"/>
                <a:ea typeface="Microsoft YaHei"/>
                <a:cs typeface="Microsoft YaHei"/>
              </a:rPr>
              <a:t>AI 概念示意图，展示目标氛围与空间语言</a:t>
            </a:r>
          </a:p>
        </p:txBody>
      </p:sp>
      <p:sp>
        <p:nvSpPr>
          <p:cNvPr id="9" name="zone-0">
            <a:extLst xmlns:a="http://schemas.openxmlformats.org/drawingml/2006/main">
              <a:ext uri="{FF2B5EF4-FFF2-40B4-BE49-F238E27FC236}">
                <a16:creationId xmlns:a16="http://schemas.microsoft.com/office/drawing/2014/main" id="{254A0615-9DA7-4CD7-A2F4-894F66F313B8}"/>
              </a:ext>
            </a:extLst>
          </p:cNvPr>
          <p:cNvSpPr>
            <a:spLocks xmlns:a="http://schemas.openxmlformats.org/drawingml/2006/main" noGrp="1"/>
          </p:cNvSpPr>
          <p:nvPr/>
        </p:nvSpPr>
        <p:spPr>
          <a:xfrm xmlns:a="http://schemas.openxmlformats.org/drawingml/2006/main">
            <a:off x="45720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探索区</a:t>
            </a:r>
          </a:p>
        </p:txBody>
      </p:sp>
      <p:sp>
        <p:nvSpPr>
          <p:cNvPr id="10" name="zone-note-0">
            <a:extLst xmlns:a="http://schemas.openxmlformats.org/drawingml/2006/main">
              <a:ext uri="{FF2B5EF4-FFF2-40B4-BE49-F238E27FC236}">
                <a16:creationId xmlns:a16="http://schemas.microsoft.com/office/drawing/2014/main" id="{1C9542AF-C7D2-4E6D-A2E3-B30E3BEAA8CC}"/>
              </a:ext>
            </a:extLst>
          </p:cNvPr>
          <p:cNvSpPr>
            <a:spLocks xmlns:a="http://schemas.openxmlformats.org/drawingml/2006/main" noGrp="1"/>
          </p:cNvSpPr>
          <p:nvPr/>
        </p:nvSpPr>
        <p:spPr>
          <a:xfrm xmlns:a="http://schemas.openxmlformats.org/drawingml/2006/main">
            <a:off x="45720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盐蚀回廊与旧码头</a:t>
            </a:r>
          </a:p>
        </p:txBody>
      </p:sp>
      <p:sp>
        <p:nvSpPr>
          <p:cNvPr id="11" name="zone-1">
            <a:extLst xmlns:a="http://schemas.openxmlformats.org/drawingml/2006/main">
              <a:ext uri="{FF2B5EF4-FFF2-40B4-BE49-F238E27FC236}">
                <a16:creationId xmlns:a16="http://schemas.microsoft.com/office/drawing/2014/main" id="{7CCA2A81-A959-4AFE-9DD2-E8D87DC745A0}"/>
              </a:ext>
            </a:extLst>
          </p:cNvPr>
          <p:cNvSpPr>
            <a:spLocks xmlns:a="http://schemas.openxmlformats.org/drawingml/2006/main" noGrp="1"/>
          </p:cNvSpPr>
          <p:nvPr/>
        </p:nvSpPr>
        <p:spPr>
          <a:xfrm xmlns:a="http://schemas.openxmlformats.org/drawingml/2006/main">
            <a:off x="70104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藏宝洞</a:t>
            </a:r>
          </a:p>
        </p:txBody>
      </p:sp>
      <p:sp>
        <p:nvSpPr>
          <p:cNvPr id="12" name="zone-note-1">
            <a:extLst xmlns:a="http://schemas.openxmlformats.org/drawingml/2006/main">
              <a:ext uri="{FF2B5EF4-FFF2-40B4-BE49-F238E27FC236}">
                <a16:creationId xmlns:a16="http://schemas.microsoft.com/office/drawing/2014/main" id="{592D1BA8-0D9F-456D-A89D-EBEC5EBC7BA5}"/>
              </a:ext>
            </a:extLst>
          </p:cNvPr>
          <p:cNvSpPr>
            <a:spLocks xmlns:a="http://schemas.openxmlformats.org/drawingml/2006/main" noGrp="1"/>
          </p:cNvSpPr>
          <p:nvPr/>
        </p:nvSpPr>
        <p:spPr>
          <a:xfrm xmlns:a="http://schemas.openxmlformats.org/drawingml/2006/main">
            <a:off x="70104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打捞仓与航海档案</a:t>
            </a:r>
          </a:p>
        </p:txBody>
      </p:sp>
      <p:sp>
        <p:nvSpPr>
          <p:cNvPr id="13" name="zone-2">
            <a:extLst xmlns:a="http://schemas.openxmlformats.org/drawingml/2006/main">
              <a:ext uri="{FF2B5EF4-FFF2-40B4-BE49-F238E27FC236}">
                <a16:creationId xmlns:a16="http://schemas.microsoft.com/office/drawing/2014/main" id="{A10B107B-3A17-4707-A926-BF9382F850B6}"/>
              </a:ext>
            </a:extLst>
          </p:cNvPr>
          <p:cNvSpPr>
            <a:spLocks xmlns:a="http://schemas.openxmlformats.org/drawingml/2006/main" noGrp="1"/>
          </p:cNvSpPr>
          <p:nvPr/>
        </p:nvSpPr>
        <p:spPr>
          <a:xfrm xmlns:a="http://schemas.openxmlformats.org/drawingml/2006/main">
            <a:off x="9448800" y="52578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Boss 场地</a:t>
            </a:r>
          </a:p>
        </p:txBody>
      </p:sp>
      <p:sp>
        <p:nvSpPr>
          <p:cNvPr id="14" name="zone-note-2">
            <a:extLst xmlns:a="http://schemas.openxmlformats.org/drawingml/2006/main">
              <a:ext uri="{FF2B5EF4-FFF2-40B4-BE49-F238E27FC236}">
                <a16:creationId xmlns:a16="http://schemas.microsoft.com/office/drawing/2014/main" id="{6866A005-3A96-4D3D-8B51-BCC51217A25F}"/>
              </a:ext>
            </a:extLst>
          </p:cNvPr>
          <p:cNvSpPr>
            <a:spLocks xmlns:a="http://schemas.openxmlformats.org/drawingml/2006/main" noGrp="1"/>
          </p:cNvSpPr>
          <p:nvPr/>
        </p:nvSpPr>
        <p:spPr>
          <a:xfrm xmlns:a="http://schemas.openxmlformats.org/drawingml/2006/main">
            <a:off x="9448800" y="569595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灯塔透镜与泵房大厅</a:t>
            </a:r>
          </a:p>
        </p:txBody>
      </p:sp>
      <p:sp>
        <p:nvSpPr>
          <p:cNvPr id="15" name="palette-0">
            <a:extLst xmlns:a="http://schemas.openxmlformats.org/drawingml/2006/main">
              <a:ext uri="{FF2B5EF4-FFF2-40B4-BE49-F238E27FC236}">
                <a16:creationId xmlns:a16="http://schemas.microsoft.com/office/drawing/2014/main" id="{7BF573B4-C677-4B32-865E-548B76382079}"/>
              </a:ext>
            </a:extLst>
          </p:cNvPr>
          <p:cNvSpPr>
            <a:spLocks xmlns:a="http://schemas.openxmlformats.org/drawingml/2006/main" noGrp="1"/>
          </p:cNvSpPr>
          <p:nvPr/>
        </p:nvSpPr>
        <p:spPr>
          <a:xfrm xmlns:a="http://schemas.openxmlformats.org/drawingml/2006/main">
            <a:off x="45720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深海蓝 #17333E</a:t>
            </a:r>
          </a:p>
        </p:txBody>
      </p:sp>
      <p:sp>
        <p:nvSpPr>
          <p:cNvPr id="16" name="palette-1">
            <a:extLst xmlns:a="http://schemas.openxmlformats.org/drawingml/2006/main">
              <a:ext uri="{FF2B5EF4-FFF2-40B4-BE49-F238E27FC236}">
                <a16:creationId xmlns:a16="http://schemas.microsoft.com/office/drawing/2014/main" id="{C3BCE69E-D2DD-4F61-91CF-A4677B956AA7}"/>
              </a:ext>
            </a:extLst>
          </p:cNvPr>
          <p:cNvSpPr>
            <a:spLocks xmlns:a="http://schemas.openxmlformats.org/drawingml/2006/main" noGrp="1"/>
          </p:cNvSpPr>
          <p:nvPr/>
        </p:nvSpPr>
        <p:spPr>
          <a:xfrm xmlns:a="http://schemas.openxmlformats.org/drawingml/2006/main">
            <a:off x="63817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铜绿 #4D887C</a:t>
            </a:r>
          </a:p>
        </p:txBody>
      </p:sp>
      <p:sp>
        <p:nvSpPr>
          <p:cNvPr id="17" name="palette-2">
            <a:extLst xmlns:a="http://schemas.openxmlformats.org/drawingml/2006/main">
              <a:ext uri="{FF2B5EF4-FFF2-40B4-BE49-F238E27FC236}">
                <a16:creationId xmlns:a16="http://schemas.microsoft.com/office/drawing/2014/main" id="{D5FD2D9E-0D98-4229-AE1F-964B22A0AC97}"/>
              </a:ext>
            </a:extLst>
          </p:cNvPr>
          <p:cNvSpPr>
            <a:spLocks xmlns:a="http://schemas.openxmlformats.org/drawingml/2006/main" noGrp="1"/>
          </p:cNvSpPr>
          <p:nvPr/>
        </p:nvSpPr>
        <p:spPr>
          <a:xfrm xmlns:a="http://schemas.openxmlformats.org/drawingml/2006/main">
            <a:off x="819150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盐蚀石灰 #B8B3A4</a:t>
            </a:r>
          </a:p>
        </p:txBody>
      </p:sp>
      <p:sp>
        <p:nvSpPr>
          <p:cNvPr id="18" name="palette-3">
            <a:extLst xmlns:a="http://schemas.openxmlformats.org/drawingml/2006/main">
              <a:ext uri="{FF2B5EF4-FFF2-40B4-BE49-F238E27FC236}">
                <a16:creationId xmlns:a16="http://schemas.microsoft.com/office/drawing/2014/main" id="{153C103B-4315-4DD6-9DA5-FFD91C92CB05}"/>
              </a:ext>
            </a:extLst>
          </p:cNvPr>
          <p:cNvSpPr>
            <a:spLocks xmlns:a="http://schemas.openxmlformats.org/drawingml/2006/main" noGrp="1"/>
          </p:cNvSpPr>
          <p:nvPr/>
        </p:nvSpPr>
        <p:spPr>
          <a:xfrm xmlns:a="http://schemas.openxmlformats.org/drawingml/2006/main">
            <a:off x="10001250" y="61817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5CED1"/>
                </a:solidFill>
                <a:latin typeface="Microsoft YaHei"/>
                <a:ea typeface="Microsoft YaHei"/>
                <a:cs typeface="Microsoft YaHei"/>
              </a:defRPr>
            </a:defPPr>
          </a:lstStyle>
          <a:p xmlns:a="http://schemas.openxmlformats.org/drawingml/2006/main">
            <a:pPr>
              <a:defRPr sz="1350" b="0">
                <a:solidFill>
                  <a:srgbClr val="C5CED1"/>
                </a:solidFill>
                <a:latin typeface="Microsoft YaHei"/>
                <a:ea typeface="Microsoft YaHei"/>
                <a:cs typeface="Microsoft YaHei"/>
              </a:defRPr>
            </a:pPr>
            <a:r>
              <a:rPr sz="1350" b="0">
                <a:solidFill>
                  <a:srgbClr val="C5CED1"/>
                </a:solidFill>
                <a:latin typeface="Microsoft YaHei"/>
                <a:ea typeface="Microsoft YaHei"/>
                <a:cs typeface="Microsoft YaHei"/>
              </a:rPr>
              <a:t>灯笼琥珀 #E7B55A</a:t>
            </a:r>
          </a:p>
        </p:txBody>
      </p:sp>
      <p:sp>
        <p:nvSpPr>
          <p:cNvPr id="19" name="page">
            <a:extLst xmlns:a="http://schemas.openxmlformats.org/drawingml/2006/main">
              <a:ext uri="{FF2B5EF4-FFF2-40B4-BE49-F238E27FC236}">
                <a16:creationId xmlns:a16="http://schemas.microsoft.com/office/drawing/2014/main" id="{FCE0EE13-47F1-472F-87E5-6DB7169EC971}"/>
              </a:ext>
            </a:extLst>
          </p:cNvPr>
          <p:cNvSpPr>
            <a:spLocks xmlns:a="http://schemas.openxmlformats.org/drawingml/2006/main" noGrp="1"/>
          </p:cNvSpPr>
          <p:nvPr/>
        </p:nvSpPr>
        <p:spPr>
          <a:xfrm xmlns:a="http://schemas.openxmlformats.org/drawingml/2006/main">
            <a:off x="11239500" y="650557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1 / 2</a:t>
            </a:r>
          </a:p>
        </p:txBody>
      </p:sp>
    </p:spTree>
    <p:extLst>
      <p:ext uri="{BB962C8B-B14F-4D97-AF65-F5344CB8AC3E}">
        <p14:creationId xmlns:p14="http://schemas.microsoft.com/office/powerpoint/2010/main" val="958942420"/>
      </p:ext>
    </p:extLst>
  </p:cSld>
</p:sld>
</file>

<file path=ppt/slides/slide2.xml><?xml version="1.0" encoding="utf-8"?>
<p:sld xmlns:p="http://schemas.openxmlformats.org/presentationml/2006/main">
  <p:cSld>
    <p:bg>
      <p:bgPr>
        <a:solidFill xmlns:a="http://schemas.openxmlformats.org/drawingml/2006/main">
          <a:srgbClr val="102129"/>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6D214C23-2B99-4CBA-B8F7-150F9D727157}"/>
              </a:ext>
            </a:extLst>
          </p:cNvPr>
          <p:cNvSpPr>
            <a:spLocks xmlns:a="http://schemas.openxmlformats.org/drawingml/2006/main" noGrp="1"/>
          </p:cNvSpPr>
          <p:nvPr/>
        </p:nvSpPr>
        <p:spPr>
          <a:xfrm xmlns:a="http://schemas.openxmlformats.org/drawingml/2006/main">
            <a:off x="457200" y="438150"/>
            <a:ext cx="11182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2EFE8"/>
                </a:solidFill>
                <a:latin typeface="Microsoft YaHei"/>
                <a:ea typeface="Microsoft YaHei"/>
                <a:cs typeface="Microsoft YaHei"/>
              </a:defRPr>
            </a:defPPr>
          </a:lstStyle>
          <a:p xmlns:a="http://schemas.openxmlformats.org/drawingml/2006/main">
            <a:pPr>
              <a:defRPr sz="3300" b="1">
                <a:solidFill>
                  <a:srgbClr val="F2EFE8"/>
                </a:solidFill>
                <a:latin typeface="Microsoft YaHei"/>
                <a:ea typeface="Microsoft YaHei"/>
                <a:cs typeface="Microsoft YaHei"/>
              </a:defRPr>
            </a:pPr>
            <a:r>
              <a:rPr sz="3300" b="1">
                <a:solidFill>
                  <a:srgbClr val="F2EFE8"/>
                </a:solidFill>
                <a:latin typeface="Microsoft YaHei"/>
                <a:ea typeface="Microsoft YaHei"/>
                <a:cs typeface="Microsoft YaHei"/>
              </a:rPr>
              <a:t>沉没的灯塔王城：素材清单</a:t>
            </a:r>
          </a:p>
        </p:txBody>
      </p:sp>
      <p:sp>
        <p:nvSpPr>
          <p:cNvPr id="2" name="priority">
            <a:extLst xmlns:a="http://schemas.openxmlformats.org/drawingml/2006/main">
              <a:ext uri="{FF2B5EF4-FFF2-40B4-BE49-F238E27FC236}">
                <a16:creationId xmlns:a16="http://schemas.microsoft.com/office/drawing/2014/main" id="{81A09FF4-27F7-42DB-A3A8-34132EEFC1B7}"/>
              </a:ext>
            </a:extLst>
          </p:cNvPr>
          <p:cNvSpPr>
            <a:spLocks xmlns:a="http://schemas.openxmlformats.org/drawingml/2006/main" noGrp="1"/>
          </p:cNvSpPr>
          <p:nvPr/>
        </p:nvSpPr>
        <p:spPr>
          <a:xfrm xmlns:a="http://schemas.openxmlformats.org/drawingml/2006/main">
            <a:off x="457200" y="1152525"/>
            <a:ext cx="11182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E2B46C"/>
                </a:solidFill>
                <a:latin typeface="Microsoft YaHei"/>
                <a:ea typeface="Microsoft YaHei"/>
                <a:cs typeface="Microsoft YaHei"/>
              </a:defRPr>
            </a:defPPr>
          </a:lstStyle>
          <a:p xmlns:a="http://schemas.openxmlformats.org/drawingml/2006/main">
            <a:pPr>
              <a:defRPr sz="1875" b="0">
                <a:solidFill>
                  <a:srgbClr val="E2B46C"/>
                </a:solidFill>
                <a:latin typeface="Microsoft YaHei"/>
                <a:ea typeface="Microsoft YaHei"/>
                <a:cs typeface="Microsoft YaHei"/>
              </a:defRPr>
            </a:pPr>
            <a:r>
              <a:rPr sz="1875" b="0">
                <a:solidFill>
                  <a:srgbClr val="E2B46C"/>
                </a:solidFill>
                <a:latin typeface="Microsoft YaHei"/>
                <a:ea typeface="Microsoft YaHei"/>
                <a:cs typeface="Microsoft YaHei"/>
              </a:rPr>
              <a:t>P0 首版必需，先完成可拼接建筑、基础敌人和一把武器</a:t>
            </a:r>
          </a:p>
        </p:txBody>
      </p:sp>
      <p:graphicFrame>
        <p:nvGraphicFramePr>
          <p:cNvPr id="3" name="">
            <a:extLst xmlns:a="http://schemas.openxmlformats.org/drawingml/2006/main">
              <a:ext uri="{FF2B5EF4-FFF2-40B4-BE49-F238E27FC236}">
                <a16:creationId xmlns:a16="http://schemas.microsoft.com/office/drawing/2014/main" id="{175F6D40-E005-4CD1-9245-82DAAD7C33F7}"/>
              </a:ext>
            </a:extLst>
          </p:cNvPr>
          <p:cNvGraphicFramePr/>
          <p:nvPr/>
        </p:nvGraphicFramePr>
        <p:xfrm>
          <a:off xmlns:a="http://schemas.openxmlformats.org/drawingml/2006/main" x="457200" y="1657350"/>
          <a:ext xmlns:a="http://schemas.openxmlformats.org/drawingml/2006/main" cx="8020050" cy="3905250"/>
        </p:xfrm>
        <a:graphic xmlns:a="http://schemas.openxmlformats.org/drawingml/2006/main">
          <a:graphicData uri="http://schemas.openxmlformats.org/drawingml/2006/table">
            <a:tbl>
              <a:tblPr firstRow="0" bandRow="0"/>
              <a:tblGrid>
                <a:gridCol w="1066800"/>
                <a:gridCol w="3476625"/>
                <a:gridCol w="3476625"/>
              </a:tblGrid>
              <a:tr h="476250">
                <a:tc>
                  <a:txBody>
                    <a:bodyPr wrap="square" lIns="114300" tIns="95250" rIns="95250" bIns="95250">
                      <a:noAutofit/>
                    </a:bodyPr>
                    <a:lstStyle/>
                    <a:p>
                      <a:r>
                        <a:rPr sz="1800" b="1">
                          <a:solidFill>
                            <a:srgbClr val="E2B46C"/>
                          </a:solidFill>
                          <a:latin typeface="Microsoft YaHei"/>
                          <a:ea typeface="Microsoft YaHei"/>
                          <a:cs typeface="Microsoft YaHei"/>
                        </a:rPr>
                        <a:t>用途</a:t>
                      </a:r>
                    </a:p>
                  </a:txBody>
                  <a:tcPr marL="91440" marR="91440" marT="45720" marB="45720" anchor="ctr">
                    <a:lnL w="4763">
                      <a:solidFill>
                        <a:srgbClr val="52616A"/>
                      </a:solidFill>
                      <a:prstDash val="solid"/>
                    </a:lnL>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需要找的模型</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c>
                  <a:txBody>
                    <a:bodyPr wrap="square" lIns="114300" tIns="95250" rIns="95250" bIns="95250">
                      <a:noAutofit/>
                    </a:bodyPr>
                    <a:lstStyle/>
                    <a:p>
                      <a:r>
                        <a:rPr sz="1800" b="1">
                          <a:solidFill>
                            <a:srgbClr val="E2B46C"/>
                          </a:solidFill>
                          <a:latin typeface="Microsoft YaHei"/>
                          <a:ea typeface="Microsoft YaHei"/>
                          <a:cs typeface="Microsoft YaHei"/>
                        </a:rPr>
                        <a:t>需要找的贴图 / 材质</a:t>
                      </a:r>
                    </a:p>
                  </a:txBody>
                  <a:tcPr marL="91440" marR="91440" marT="45720" marB="45720" anchor="ctr">
                    <a:lnR w="4763">
                      <a:solidFill>
                        <a:srgbClr val="52616A"/>
                      </a:solidFill>
                      <a:prstDash val="solid"/>
                    </a:lnR>
                    <a:lnT w="4763">
                      <a:solidFill>
                        <a:srgbClr val="52616A"/>
                      </a:solidFill>
                      <a:prstDash val="solid"/>
                    </a:lnT>
                    <a:lnB w="4763">
                      <a:solidFill>
                        <a:srgbClr val="52616A"/>
                      </a:solidFill>
                      <a:prstDash val="solid"/>
                    </a:lnB>
                    <a:solidFill>
                      <a:srgbClr val="102129"/>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探索区</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石墙、拱门、铁栅窗</a:t>
                      </a:r>
                    </a:p>
                    <a:p>
                      <a:r>
                        <a:rPr sz="1725" b="0">
                          <a:solidFill>
                            <a:srgbClr val="EBE8E1"/>
                          </a:solidFill>
                          <a:latin typeface="Microsoft YaHei"/>
                          <a:ea typeface="Microsoft YaHei"/>
                          <a:cs typeface="Microsoft YaHei"/>
                        </a:rPr>
                        <a:t>锈蚀步道、栏杆、铜管</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盐蚀石材、湿润材质</a:t>
                      </a:r>
                    </a:p>
                    <a:p>
                      <a:r>
                        <a:rPr sz="1725" b="0">
                          <a:solidFill>
                            <a:srgbClr val="EBE8E1"/>
                          </a:solidFill>
                          <a:latin typeface="Microsoft YaHei"/>
                          <a:ea typeface="Microsoft YaHei"/>
                          <a:cs typeface="Microsoft YaHei"/>
                        </a:rPr>
                        <a:t>水位线、滴痕、锈迹贴花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藏宝洞</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木箱、绞盘、绳索</a:t>
                      </a:r>
                    </a:p>
                    <a:p>
                      <a:r>
                        <a:rPr sz="1725" b="0">
                          <a:solidFill>
                            <a:srgbClr val="EBE8E1"/>
                          </a:solidFill>
                          <a:latin typeface="Microsoft YaHei"/>
                          <a:ea typeface="Microsoft YaHei"/>
                          <a:cs typeface="Microsoft YaHei"/>
                        </a:rPr>
                        <a:t>罗盘、航海箱、灯笼</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湿木、绳纤维、旧纸</a:t>
                      </a:r>
                    </a:p>
                    <a:p>
                      <a:r>
                        <a:rPr sz="1725" b="0">
                          <a:solidFill>
                            <a:srgbClr val="EBE8E1"/>
                          </a:solidFill>
                          <a:latin typeface="Microsoft YaHei"/>
                          <a:ea typeface="Microsoft YaHei"/>
                          <a:cs typeface="Microsoft YaHei"/>
                        </a:rPr>
                        <a:t>铜绿、船号、盐斑贴花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Boss 场地</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灯塔透镜、泵机、阀门</a:t>
                      </a:r>
                    </a:p>
                    <a:p>
                      <a:r>
                        <a:rPr sz="1725" b="0">
                          <a:solidFill>
                            <a:srgbClr val="EBE8E1"/>
                          </a:solidFill>
                          <a:latin typeface="Microsoft YaHei"/>
                          <a:ea typeface="Microsoft YaHei"/>
                          <a:cs typeface="Microsoft YaHei"/>
                        </a:rPr>
                        <a:t>检修高台、坡道、机座</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锈铁、铜绿、格栅</a:t>
                      </a:r>
                    </a:p>
                    <a:p>
                      <a:r>
                        <a:rPr sz="1725" b="0">
                          <a:solidFill>
                            <a:srgbClr val="EBE8E1"/>
                          </a:solidFill>
                          <a:latin typeface="Microsoft YaHei"/>
                          <a:ea typeface="Microsoft YaHei"/>
                          <a:cs typeface="Microsoft YaHei"/>
                        </a:rPr>
                        <a:t>积水、水痕、油渍贴花</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r h="857250">
                <a:tc>
                  <a:txBody>
                    <a:bodyPr wrap="square" lIns="114300" tIns="95250" rIns="95250" bIns="95250">
                      <a:noAutofit/>
                    </a:bodyPr>
                    <a:lstStyle/>
                    <a:p>
                      <a:r>
                        <a:rPr sz="1725" b="0">
                          <a:solidFill>
                            <a:srgbClr val="EBE8E1"/>
                          </a:solidFill>
                          <a:latin typeface="Microsoft YaHei"/>
                          <a:ea typeface="Microsoft YaHei"/>
                          <a:cs typeface="Microsoft YaHei"/>
                        </a:rPr>
                        <a:t>P0</a:t>
                      </a:r>
                    </a:p>
                    <a:p>
                      <a:r>
                        <a:rPr sz="1725" b="0">
                          <a:solidFill>
                            <a:srgbClr val="EBE8E1"/>
                          </a:solidFill>
                          <a:latin typeface="Microsoft YaHei"/>
                          <a:ea typeface="Microsoft YaHei"/>
                          <a:cs typeface="Microsoft YaHei"/>
                        </a:rPr>
                        <a:t>角色武器</a:t>
                      </a:r>
                    </a:p>
                  </a:txBody>
                  <a:tcPr marL="91440" marR="91440" marT="45720" marB="45720" anchor="ctr">
                    <a:lnL w="4763">
                      <a:solidFill>
                        <a:srgbClr val="52616A"/>
                      </a:solidFill>
                      <a:prstDash val="solid"/>
                    </a:lnL>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覆甲水手、重型潜水甲</a:t>
                      </a:r>
                    </a:p>
                    <a:p>
                      <a:r>
                        <a:rPr sz="1725" b="0">
                          <a:solidFill>
                            <a:srgbClr val="EBE8E1"/>
                          </a:solidFill>
                          <a:latin typeface="Microsoft YaHei"/>
                          <a:ea typeface="Microsoft YaHei"/>
                          <a:cs typeface="Microsoft YaHei"/>
                        </a:rPr>
                        <a:t>鱼叉外形卡宾枪、罗盘</a:t>
                      </a:r>
                    </a:p>
                  </a:txBody>
                  <a:tcPr marL="91440" marR="91440" marT="45720" marB="45720" anchor="ctr">
                    <a:lnR w="4763">
                      <a:solidFill>
                        <a:srgbClr val="52616A"/>
                      </a:solidFill>
                      <a:prstDash val="solid"/>
                    </a:lnR>
                    <a:lnB w="4763">
                      <a:solidFill>
                        <a:srgbClr val="52616A"/>
                      </a:solidFill>
                      <a:prstDash val="solid"/>
                    </a:lnB>
                    <a:solidFill>
                      <a:srgbClr val="1C2B34"/>
                    </a:solidFill>
                  </a:tcPr>
                </a:tc>
                <a:tc>
                  <a:txBody>
                    <a:bodyPr wrap="square" lIns="114300" tIns="95250" rIns="95250" bIns="95250">
                      <a:noAutofit/>
                    </a:bodyPr>
                    <a:lstStyle/>
                    <a:p>
                      <a:r>
                        <a:rPr sz="1725" b="0">
                          <a:solidFill>
                            <a:srgbClr val="EBE8E1"/>
                          </a:solidFill>
                          <a:latin typeface="Microsoft YaHei"/>
                          <a:ea typeface="Microsoft YaHei"/>
                          <a:cs typeface="Microsoft YaHei"/>
                        </a:rPr>
                        <a:t>锈蚀金属、湿布</a:t>
                      </a:r>
                    </a:p>
                    <a:p>
                      <a:r>
                        <a:rPr sz="1725" b="0">
                          <a:solidFill>
                            <a:srgbClr val="EBE8E1"/>
                          </a:solidFill>
                          <a:latin typeface="Microsoft YaHei"/>
                          <a:ea typeface="Microsoft YaHei"/>
                          <a:cs typeface="Microsoft YaHei"/>
                        </a:rPr>
                        <a:t>藤壶附着、磨损遮罩</a:t>
                      </a:r>
                    </a:p>
                  </a:txBody>
                  <a:tcPr marL="91440" marR="91440" marT="45720" marB="45720" anchor="ctr">
                    <a:lnR w="4763">
                      <a:solidFill>
                        <a:srgbClr val="52616A"/>
                      </a:solidFill>
                      <a:prstDash val="solid"/>
                    </a:lnR>
                    <a:lnB w="4763">
                      <a:solidFill>
                        <a:srgbClr val="52616A"/>
                      </a:solidFill>
                      <a:prstDash val="solid"/>
                    </a:lnB>
                    <a:solidFill>
                      <a:srgbClr val="1C2B34"/>
                    </a:solidFill>
                  </a:tcPr>
                </a:tc>
              </a:tr>
            </a:tbl>
          </a:graphicData>
        </a:graphic>
      </p:graphicFrame>
      <p:pic>
        <p:nvPicPr>
          <p:cNvPr id="4" name="">
            <a:extLst xmlns:a="http://schemas.openxmlformats.org/drawingml/2006/main">
              <a:ext uri="{FF2B5EF4-FFF2-40B4-BE49-F238E27FC236}">
                <a16:creationId xmlns:a16="http://schemas.microsoft.com/office/drawing/2014/main" id="{D8D19D00-68E1-4908-8FF6-69C803A2090C}"/>
              </a:ext>
            </a:extLst>
          </p:cNvPr>
          <p:cNvPicPr>
            <a:picLocks xmlns:a="http://schemas.openxmlformats.org/drawingml/2006/main" noChangeAspect="1"/>
          </p:cNvPicPr>
          <p:nvPr/>
        </p:nvPicPr>
        <p:blipFill>
          <a:blip xmlns:r="http://schemas.openxmlformats.org/officeDocument/2006/relationships" xmlns:a="http://schemas.openxmlformats.org/drawingml/2006/main" r:embed="Rd3a38eefc81743e4"/>
          <a:stretch xmlns:a="http://schemas.openxmlformats.org/drawingml/2006/main"/>
        </p:blipFill>
        <p:spPr>
          <a:xfrm xmlns:a="http://schemas.openxmlformats.org/drawingml/2006/main">
            <a:off x="8743950" y="1658689"/>
            <a:ext cx="2990850" cy="1683248"/>
          </a:xfrm>
          <a:prstGeom xmlns:a="http://schemas.openxmlformats.org/drawingml/2006/main" prst="rect">
            <a:avLst/>
          </a:prstGeom>
        </p:spPr>
      </p:pic>
      <p:sp>
        <p:nvSpPr>
          <p:cNvPr id="5" name="asset-caption">
            <a:extLst xmlns:a="http://schemas.openxmlformats.org/drawingml/2006/main">
              <a:ext uri="{FF2B5EF4-FFF2-40B4-BE49-F238E27FC236}">
                <a16:creationId xmlns:a16="http://schemas.microsoft.com/office/drawing/2014/main" id="{AEB09406-D213-493E-9A20-E09B2302BA6D}"/>
              </a:ext>
            </a:extLst>
          </p:cNvPr>
          <p:cNvSpPr>
            <a:spLocks xmlns:a="http://schemas.openxmlformats.org/drawingml/2006/main" noGrp="1"/>
          </p:cNvSpPr>
          <p:nvPr/>
        </p:nvSpPr>
        <p:spPr>
          <a:xfrm xmlns:a="http://schemas.openxmlformats.org/drawingml/2006/main">
            <a:off x="8743950" y="34575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8C1C5"/>
                </a:solidFill>
                <a:latin typeface="Microsoft YaHei"/>
                <a:ea typeface="Microsoft YaHei"/>
                <a:cs typeface="Microsoft YaHei"/>
              </a:defRPr>
            </a:defPPr>
          </a:lstStyle>
          <a:p xmlns:a="http://schemas.openxmlformats.org/drawingml/2006/main">
            <a:pPr>
              <a:defRPr sz="1350" b="0">
                <a:solidFill>
                  <a:srgbClr val="A8C1C5"/>
                </a:solidFill>
                <a:latin typeface="Microsoft YaHei"/>
                <a:ea typeface="Microsoft YaHei"/>
                <a:cs typeface="Microsoft YaHei"/>
              </a:defRPr>
            </a:pPr>
            <a:r>
              <a:rPr sz="1350" b="0">
                <a:solidFill>
                  <a:srgbClr val="A8C1C5"/>
                </a:solidFill>
                <a:latin typeface="Microsoft YaHei"/>
                <a:ea typeface="Microsoft YaHei"/>
                <a:cs typeface="Microsoft YaHei"/>
              </a:rPr>
              <a:t>形状与材质参考（AI 概念图）</a:t>
            </a:r>
          </a:p>
        </p:txBody>
      </p:sp>
      <p:sp>
        <p:nvSpPr>
          <p:cNvPr id="6" name="keyword-title">
            <a:extLst xmlns:a="http://schemas.openxmlformats.org/drawingml/2006/main">
              <a:ext uri="{FF2B5EF4-FFF2-40B4-BE49-F238E27FC236}">
                <a16:creationId xmlns:a16="http://schemas.microsoft.com/office/drawing/2014/main" id="{7CE1475F-70A8-45A4-B116-D7334C3487A4}"/>
              </a:ext>
            </a:extLst>
          </p:cNvPr>
          <p:cNvSpPr>
            <a:spLocks xmlns:a="http://schemas.openxmlformats.org/drawingml/2006/main" noGrp="1"/>
          </p:cNvSpPr>
          <p:nvPr/>
        </p:nvSpPr>
        <p:spPr>
          <a:xfrm xmlns:a="http://schemas.openxmlformats.org/drawingml/2006/main">
            <a:off x="8743950" y="3933825"/>
            <a:ext cx="2990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E2B46C"/>
                </a:solidFill>
                <a:latin typeface="Microsoft YaHei"/>
                <a:ea typeface="Microsoft YaHei"/>
                <a:cs typeface="Microsoft YaHei"/>
              </a:defRPr>
            </a:defPPr>
          </a:lstStyle>
          <a:p xmlns:a="http://schemas.openxmlformats.org/drawingml/2006/main">
            <a:pPr>
              <a:defRPr sz="1875" b="1">
                <a:solidFill>
                  <a:srgbClr val="E2B46C"/>
                </a:solidFill>
                <a:latin typeface="Microsoft YaHei"/>
                <a:ea typeface="Microsoft YaHei"/>
                <a:cs typeface="Microsoft YaHei"/>
              </a:defRPr>
            </a:pPr>
            <a:r>
              <a:rPr sz="1875" b="1">
                <a:solidFill>
                  <a:srgbClr val="E2B46C"/>
                </a:solidFill>
                <a:latin typeface="Microsoft YaHei"/>
                <a:ea typeface="Microsoft YaHei"/>
                <a:cs typeface="Microsoft YaHei"/>
              </a:rPr>
              <a:t>检索关键词</a:t>
            </a:r>
          </a:p>
        </p:txBody>
      </p:sp>
      <p:sp>
        <p:nvSpPr>
          <p:cNvPr id="7" name="keywords">
            <a:extLst xmlns:a="http://schemas.openxmlformats.org/drawingml/2006/main">
              <a:ext uri="{FF2B5EF4-FFF2-40B4-BE49-F238E27FC236}">
                <a16:creationId xmlns:a16="http://schemas.microsoft.com/office/drawing/2014/main" id="{AD7130E7-18D5-40EC-82EE-BB80554C129E}"/>
              </a:ext>
            </a:extLst>
          </p:cNvPr>
          <p:cNvSpPr>
            <a:spLocks xmlns:a="http://schemas.openxmlformats.org/drawingml/2006/main" noGrp="1"/>
          </p:cNvSpPr>
          <p:nvPr/>
        </p:nvSpPr>
        <p:spPr>
          <a:xfrm xmlns:a="http://schemas.openxmlformats.org/drawingml/2006/main">
            <a:off x="8743950" y="4343400"/>
            <a:ext cx="29908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E0DC"/>
                </a:solidFill>
                <a:latin typeface="Microsoft YaHei"/>
                <a:ea typeface="Microsoft YaHei"/>
                <a:cs typeface="Microsoft YaHei"/>
              </a:defRPr>
            </a:defPPr>
          </a:lstStyle>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lighthouse machinery</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nautical props</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corroded copper</a:t>
            </a:r>
          </a:p>
          <a:p xmlns:a="http://schemas.openxmlformats.org/drawingml/2006/main">
            <a:pPr>
              <a:defRPr sz="1725" b="0">
                <a:solidFill>
                  <a:srgbClr val="E2E0DC"/>
                </a:solidFill>
                <a:latin typeface="Microsoft YaHei"/>
                <a:ea typeface="Microsoft YaHei"/>
                <a:cs typeface="Microsoft YaHei"/>
              </a:defRPr>
            </a:pPr>
            <a:r>
              <a:rPr sz="1725" b="0">
                <a:solidFill>
                  <a:srgbClr val="E2E0DC"/>
                </a:solidFill>
                <a:latin typeface="Microsoft YaHei"/>
                <a:ea typeface="Microsoft YaHei"/>
                <a:cs typeface="Microsoft YaHei"/>
              </a:rPr>
              <a:t>barnacle decal</a:t>
            </a:r>
          </a:p>
        </p:txBody>
      </p:sp>
      <p:sp>
        <p:nvSpPr>
          <p:cNvPr id="8" name="extension">
            <a:extLst xmlns:a="http://schemas.openxmlformats.org/drawingml/2006/main">
              <a:ext uri="{FF2B5EF4-FFF2-40B4-BE49-F238E27FC236}">
                <a16:creationId xmlns:a16="http://schemas.microsoft.com/office/drawing/2014/main" id="{26CBEEA4-44DD-4159-A0E5-0B340240DFEB}"/>
              </a:ext>
            </a:extLst>
          </p:cNvPr>
          <p:cNvSpPr>
            <a:spLocks xmlns:a="http://schemas.openxmlformats.org/drawingml/2006/main" noGrp="1"/>
          </p:cNvSpPr>
          <p:nvPr/>
        </p:nvSpPr>
        <p:spPr>
          <a:xfrm xmlns:a="http://schemas.openxmlformats.org/drawingml/2006/main">
            <a:off x="457200" y="57626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E2B46C"/>
                </a:solidFill>
                <a:latin typeface="Microsoft YaHei"/>
                <a:ea typeface="Microsoft YaHei"/>
                <a:cs typeface="Microsoft YaHei"/>
              </a:defRPr>
            </a:defPPr>
          </a:lstStyle>
          <a:p xmlns:a="http://schemas.openxmlformats.org/drawingml/2006/main">
            <a:pPr>
              <a:defRPr sz="1725" b="0">
                <a:solidFill>
                  <a:srgbClr val="E2B46C"/>
                </a:solidFill>
                <a:latin typeface="Microsoft YaHei"/>
                <a:ea typeface="Microsoft YaHei"/>
                <a:cs typeface="Microsoft YaHei"/>
              </a:defRPr>
            </a:pPr>
            <a:r>
              <a:rPr sz="1725" b="0">
                <a:solidFill>
                  <a:srgbClr val="E2B46C"/>
                </a:solidFill>
                <a:latin typeface="Microsoft YaHei"/>
                <a:ea typeface="Microsoft YaHei"/>
                <a:cs typeface="Microsoft YaHei"/>
              </a:rPr>
              <a:t>P1 氛围扩展：海雾、扫光、窗外海面。首版用静态积水，主路线保持干燥。</a:t>
            </a:r>
          </a:p>
        </p:txBody>
      </p:sp>
      <p:sp>
        <p:nvSpPr>
          <p:cNvPr id="9" name="requirements">
            <a:extLst xmlns:a="http://schemas.openxmlformats.org/drawingml/2006/main">
              <a:ext uri="{FF2B5EF4-FFF2-40B4-BE49-F238E27FC236}">
                <a16:creationId xmlns:a16="http://schemas.microsoft.com/office/drawing/2014/main" id="{853ED2E1-EB79-4082-A4B4-1795F534B16D}"/>
              </a:ext>
            </a:extLst>
          </p:cNvPr>
          <p:cNvSpPr>
            <a:spLocks xmlns:a="http://schemas.openxmlformats.org/drawingml/2006/main" noGrp="1"/>
          </p:cNvSpPr>
          <p:nvPr/>
        </p:nvSpPr>
        <p:spPr>
          <a:xfrm xmlns:a="http://schemas.openxmlformats.org/drawingml/2006/main">
            <a:off x="457200" y="6200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D3D8D8"/>
                </a:solidFill>
                <a:latin typeface="Microsoft YaHei"/>
                <a:ea typeface="Microsoft YaHei"/>
                <a:cs typeface="Microsoft YaHei"/>
              </a:defRPr>
            </a:defPPr>
          </a:lstStyle>
          <a:p xmlns:a="http://schemas.openxmlformats.org/drawingml/2006/main">
            <a:pPr>
              <a:defRPr sz="1575" b="0">
                <a:solidFill>
                  <a:srgbClr val="D3D8D8"/>
                </a:solidFill>
                <a:latin typeface="Microsoft YaHei"/>
                <a:ea typeface="Microsoft YaHei"/>
                <a:cs typeface="Microsoft YaHei"/>
              </a:defRPr>
            </a:pPr>
            <a:r>
              <a:rPr sz="1575" b="0">
                <a:solidFill>
                  <a:srgbClr val="D3D8D8"/>
                </a:solidFill>
                <a:latin typeface="Microsoft YaHei"/>
                <a:ea typeface="Microsoft YaHei"/>
                <a:cs typeface="Microsoft YaHei"/>
              </a:rPr>
              <a:t>统一要求：模块有简单碰撞，角色带骨骼；PBR 需 Base Color、Normal、Roughness、AO，金属件补 Metallic。</a:t>
            </a:r>
          </a:p>
        </p:txBody>
      </p:sp>
      <p:sp>
        <p:nvSpPr>
          <p:cNvPr id="10" name="page">
            <a:extLst xmlns:a="http://schemas.openxmlformats.org/drawingml/2006/main">
              <a:ext uri="{FF2B5EF4-FFF2-40B4-BE49-F238E27FC236}">
                <a16:creationId xmlns:a16="http://schemas.microsoft.com/office/drawing/2014/main" id="{4DA185F0-B3C1-4DD3-B38C-1024B4E04CFD}"/>
              </a:ext>
            </a:extLst>
          </p:cNvPr>
          <p:cNvSpPr>
            <a:spLocks xmlns:a="http://schemas.openxmlformats.org/drawingml/2006/main" noGrp="1"/>
          </p:cNvSpPr>
          <p:nvPr/>
        </p:nvSpPr>
        <p:spPr>
          <a:xfrm xmlns:a="http://schemas.openxmlformats.org/drawingml/2006/main">
            <a:off x="11239500" y="65341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8C1C5"/>
                </a:solidFill>
                <a:latin typeface="Microsoft YaHei"/>
                <a:ea typeface="Microsoft YaHei"/>
                <a:cs typeface="Microsoft YaHei"/>
              </a:defRPr>
            </a:defPPr>
          </a:lstStyle>
          <a:p xmlns:a="http://schemas.openxmlformats.org/drawingml/2006/main">
            <a:pPr>
              <a:defRPr sz="1200" b="0">
                <a:solidFill>
                  <a:srgbClr val="A8C1C5"/>
                </a:solidFill>
                <a:latin typeface="Microsoft YaHei"/>
                <a:ea typeface="Microsoft YaHei"/>
                <a:cs typeface="Microsoft YaHei"/>
              </a:defRPr>
            </a:pPr>
            <a:r>
              <a:rPr sz="1200" b="0">
                <a:solidFill>
                  <a:srgbClr val="A8C1C5"/>
                </a:solidFill>
                <a:latin typeface="Microsoft YaHei"/>
                <a:ea typeface="Microsoft YaHei"/>
                <a:cs typeface="Microsoft YaHei"/>
              </a:rPr>
              <a:t>2 / 2</a:t>
            </a:r>
          </a:p>
        </p:txBody>
      </p:sp>
    </p:spTree>
    <p:extLst>
      <p:ext uri="{BB962C8B-B14F-4D97-AF65-F5344CB8AC3E}">
        <p14:creationId xmlns:p14="http://schemas.microsoft.com/office/powerpoint/2010/main" val="9329609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2026-10-13T08:02:52.8280000Z</dcterms:created>
  <dcterms:modified xsi:type="dcterms:W3CDTF">2026-10-13T08:02:52.8280000Z</dcterms:modified>
</coreProperties>
</file>