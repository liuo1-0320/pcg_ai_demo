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b287cc148a4955" /><Relationship Type="http://schemas.openxmlformats.org/officeDocument/2006/relationships/extended-properties" Target="/docProps/app.xml" Id="R879a9d6f434c44ce" /><Relationship Type="http://schemas.openxmlformats.org/officeDocument/2006/relationships/officeDocument" Target="/ppt/presentation.xml" Id="R304d3341193c4162" /></Relationships>
</file>

<file path=ppt/presentation.xml><?xml version="1.0" encoding="utf-8"?>
<p:presentation xmlns:p="http://schemas.openxmlformats.org/presentationml/2006/main">
  <p:sldMasterIdLst>
    <p:sldMasterId xmlns:r="http://schemas.openxmlformats.org/officeDocument/2006/relationships" id="2147483648" r:id="Rff1d35e1189a43b7"/>
  </p:sldMasterIdLst>
  <p:notesMasterIdLst>
    <p:notesMasterId xmlns:r="http://schemas.openxmlformats.org/officeDocument/2006/relationships" r:id="R9febb24676f14af5"/>
  </p:notesMasterIdLst>
  <p:sldIdLst>
    <p:sldId xmlns:r="http://schemas.openxmlformats.org/officeDocument/2006/relationships" id="256" r:id="Rb658a5c102bc4120"/>
    <p:sldId xmlns:r="http://schemas.openxmlformats.org/officeDocument/2006/relationships" id="257" r:id="Rfec454bb97e241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cfe5fb18d34c68" /><Relationship Type="http://schemas.openxmlformats.org/officeDocument/2006/relationships/slideMaster" Target="/ppt/slideMasters/slideMaster1.xml" Id="Rff1d35e1189a43b7" /><Relationship Type="http://schemas.openxmlformats.org/officeDocument/2006/relationships/notesMaster" Target="/ppt/notesMasters/notesMaster1.xml" Id="R9febb24676f14af5" /><Relationship Type="http://schemas.openxmlformats.org/officeDocument/2006/relationships/presProps" Target="/ppt/presProps.xml" Id="Re28e1b4b5a03433a" /><Relationship Type="http://schemas.openxmlformats.org/officeDocument/2006/relationships/tableStyles" Target="/ppt/tableStyles.xml" Id="R0d45c8c6540a4fc6" /><Relationship Type="http://schemas.openxmlformats.org/officeDocument/2006/relationships/slide" Target="/ppt/slides/slide1.xml" Id="Rb658a5c102bc4120" /><Relationship Type="http://schemas.openxmlformats.org/officeDocument/2006/relationships/slide" Target="/ppt/slides/slide2.xml" Id="Rfec454bb97e241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76ec8cf91448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7cdac903a1445d" /><Relationship Type="http://schemas.openxmlformats.org/officeDocument/2006/relationships/notesMaster" Target="/ppt/notesMasters/notesMaster1.xml" Id="R07727a8a049c4e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2df8b60a824aae" /><Relationship Type="http://schemas.openxmlformats.org/officeDocument/2006/relationships/notesMaster" Target="/ppt/notesMasters/notesMaster1.xml" Id="Rb6182f86e6184e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game art direction presentation, cinematic environment concept. Create a landscape 16:9 detailed painterly 3D-style fantasy FPS concept image of a stopped clockwork royal citadel: enormous medieval stone arches and Gothic towers built around a giant dormant brass clock heart, exposed copper pipes, huge counterweights, maintenance walkways, reachable raised platforms and ramps, an abandoned armory corridor opens into the mechanical hall. One small slender armored clockwork sentinel for scale, carrying a rivet carbine. Grey blue basalt #343D49, weathered brass #A67C45, small cyan energy #54C7CC, restrained warm amber rewards. Clear readable architectural shapes suited to modular game modeling, stylized physically based surfaces, haunting stillness, moderate brighter bounce light so forms are visible. Wide three-quarter view at human eye level. No words, labels, logos, HUD, watermark. This is concept inspiration, not an actual screenshot.</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氛围扩展：旗帜、仪表、小型蒸汽特效。先用静态配重表现停摆。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visual material and modeling reference board for game art. A single cohesive wide 16:9 studio tabletop composition on a deep grey-blue neutral background showing the asset family of a stopped clockwork citadel: a modular stone pointed arch and wall fragment behind, a brass piston and pipe elbow, an exposed gear and riveted steel maintenance grating in the foreground, an old copper pressure-gauge rivet carbine and small mechanical heart relic, a standing slim armored clockwork sentinel. Beside props lie visible natural sample chunks of chipped basalt stone, aged yellow brass and oxidized metal. All items well separated spatially, clearly modeled and lit, no labeled cards or UI, no typography or text, no logos. Painterly game concept art with believable material roughness, cyan tiny glowing channels and amber warm rim light. Original designs for style reference, not ready-made usable assets.</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氛围扩展：旗帜、仪表、小型蒸汽特效。先用静态配重表现停摆。</a:t>
            </a:r>
          </a:p>
          <a:p xmlns:a="http://schemas.openxmlformats.org/drawingml/2006/main">
            <a:r>
              <a:t>配色：灰蓝石材 #343D49, 旧黄铜 #A67C45, 青蓝能源 #54C7CC, 琥珀奖励 #E8AF54</a:t>
            </a:r>
          </a:p>
          <a:p xmlns:a="http://schemas.openxmlformats.org/drawingml/2006/main">
            <a:r>
              <a:t>核心材质：石砖、黄铜、钢板。奖励用琥珀色，危险预警用红橙色。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6c62d2b1cb4d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a99ecb910844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5cdf6ac6e543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ef57470726b4a0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c259e8e92d349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c086114d08643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668487-536A-4B85-80E6-7299F051334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3D130E5-89F0-4D0F-BB39-3F6741971E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56BB09E-C965-4480-831F-6260159D54F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E16B62-E641-410A-86B3-7073B5D750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B57E51-5B78-44CF-AD18-36D473B5C9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4A94883-FB94-4449-A7A9-BAFE3BAD37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F0E60F-6AF3-4C7E-AA5B-8301F1E1D4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3E3C4E-542E-4010-BBD0-6EBE518BC3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D09E95-6AD6-426D-9AAC-C5768539A4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1886C5-2BB1-490C-A62B-F54B0CBB65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ff83d81a644abf" /><Relationship Type="http://schemas.openxmlformats.org/officeDocument/2006/relationships/slideLayout" Target="/ppt/slideLayouts/slideLayout1.xml" Id="R50cebc85e60c49cd" /><Relationship Type="http://schemas.openxmlformats.org/officeDocument/2006/relationships/slideLayout" Target="/ppt/slideLayouts/slideLayout2.xml" Id="Rfd75700f245d4601" /><Relationship Type="http://schemas.openxmlformats.org/officeDocument/2006/relationships/slideLayout" Target="/ppt/slideLayouts/slideLayout3.xml" Id="Ra9b3f910443b4030" /><Relationship Type="http://schemas.openxmlformats.org/officeDocument/2006/relationships/slideLayout" Target="/ppt/slideLayouts/slideLayout4.xml" Id="R8a7ff1122eb1473f" /><Relationship Type="http://schemas.openxmlformats.org/officeDocument/2006/relationships/slideLayout" Target="/ppt/slideLayouts/slideLayout5.xml" Id="R051414a3611948f5" /><Relationship Type="http://schemas.openxmlformats.org/officeDocument/2006/relationships/slideLayout" Target="/ppt/slideLayouts/slideLayout6.xml" Id="R7e1be66a4f1047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cebc85e60c49cd"/>
    <p:sldLayoutId xmlns:r="http://schemas.openxmlformats.org/officeDocument/2006/relationships" id="2147483650" r:id="Rfd75700f245d4601"/>
    <p:sldLayoutId xmlns:r="http://schemas.openxmlformats.org/officeDocument/2006/relationships" id="2147483651" r:id="Ra9b3f910443b4030"/>
    <p:sldLayoutId xmlns:r="http://schemas.openxmlformats.org/officeDocument/2006/relationships" id="2147483652" r:id="R8a7ff1122eb1473f"/>
    <p:sldLayoutId xmlns:r="http://schemas.openxmlformats.org/officeDocument/2006/relationships" id="2147483653" r:id="R051414a3611948f5"/>
    <p:sldLayoutId xmlns:r="http://schemas.openxmlformats.org/officeDocument/2006/relationships" id="2147483654" r:id="R7e1be66a4f1047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093afdc7fa24c83" /><Relationship Type="http://schemas.openxmlformats.org/officeDocument/2006/relationships/image" Target="/ppt/media/image.png" Id="R9a0557053b034198" /><Relationship Type="http://schemas.openxmlformats.org/officeDocument/2006/relationships/notesSlide" Target="/ppt/notesSlides/notesSlide1.xml" Id="Rc0171ab4978341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5ce97a54404abf" /><Relationship Type="http://schemas.openxmlformats.org/officeDocument/2006/relationships/image" Target="/ppt/media/image2.png" Id="R0d1e0d35f4a04200" /><Relationship Type="http://schemas.openxmlformats.org/officeDocument/2006/relationships/notesSlide" Target="/ppt/notesSlides/notesSlide2.xml" Id="R09fd7818370d4635" /></Relationships>
</file>

<file path=ppt/slides/slide1.xml><?xml version="1.0" encoding="utf-8"?>
<p:sld xmlns:p="http://schemas.openxmlformats.org/presentationml/2006/main">
  <p:cSld>
    <p:bg>
      <p:bgPr>
        <a:solidFill xmlns:a="http://schemas.openxmlformats.org/drawingml/2006/main">
          <a:srgbClr val="111A23"/>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452362BF-75AA-4D99-8DB3-CFF11083AD31}"/>
              </a:ext>
            </a:extLst>
          </p:cNvPr>
          <p:cNvSpPr>
            <a:spLocks xmlns:a="http://schemas.openxmlformats.org/drawingml/2006/main" noGrp="1"/>
          </p:cNvSpPr>
          <p:nvPr/>
        </p:nvSpPr>
        <p:spPr>
          <a:xfrm xmlns:a="http://schemas.openxmlformats.org/drawingml/2006/main">
            <a:off x="457200" y="2857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DBB071"/>
                </a:solidFill>
                <a:latin typeface="Microsoft YaHei"/>
                <a:ea typeface="Microsoft YaHei"/>
                <a:cs typeface="Microsoft YaHei"/>
              </a:defRPr>
            </a:defPPr>
          </a:lstStyle>
          <a:p xmlns:a="http://schemas.openxmlformats.org/drawingml/2006/main">
            <a:pPr>
              <a:defRPr sz="1650" b="0">
                <a:solidFill>
                  <a:srgbClr val="DBB071"/>
                </a:solidFill>
                <a:latin typeface="Microsoft YaHei"/>
                <a:ea typeface="Microsoft YaHei"/>
                <a:cs typeface="Microsoft YaHei"/>
              </a:defRPr>
            </a:pPr>
            <a:r>
              <a:rPr sz="1650" b="0">
                <a:solidFill>
                  <a:srgbClr val="DBB071"/>
                </a:solidFill>
                <a:latin typeface="Microsoft YaHei"/>
                <a:ea typeface="Microsoft YaHei"/>
                <a:cs typeface="Microsoft YaHei"/>
              </a:rPr>
              <a:t>01  世界观与视觉</a:t>
            </a:r>
          </a:p>
        </p:txBody>
      </p:sp>
      <p:sp>
        <p:nvSpPr>
          <p:cNvPr id="2" name="title">
            <a:extLst xmlns:a="http://schemas.openxmlformats.org/drawingml/2006/main">
              <a:ext uri="{FF2B5EF4-FFF2-40B4-BE49-F238E27FC236}">
                <a16:creationId xmlns:a16="http://schemas.microsoft.com/office/drawing/2014/main" id="{60576F51-99B9-4CA2-BE02-BBA53BF8A9D8}"/>
              </a:ext>
            </a:extLst>
          </p:cNvPr>
          <p:cNvSpPr>
            <a:spLocks xmlns:a="http://schemas.openxmlformats.org/drawingml/2006/main" noGrp="1"/>
          </p:cNvSpPr>
          <p:nvPr/>
        </p:nvSpPr>
        <p:spPr>
          <a:xfrm xmlns:a="http://schemas.openxmlformats.org/drawingml/2006/main">
            <a:off x="457200" y="847725"/>
            <a:ext cx="3714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2EFE8"/>
                </a:solidFill>
                <a:latin typeface="Microsoft YaHei"/>
                <a:ea typeface="Microsoft YaHei"/>
                <a:cs typeface="Microsoft YaHei"/>
              </a:defRPr>
            </a:defPPr>
          </a:lstStyle>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停摆的</a:t>
            </a:r>
          </a:p>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机关王城</a:t>
            </a:r>
          </a:p>
        </p:txBody>
      </p:sp>
      <p:sp>
        <p:nvSpPr>
          <p:cNvPr id="3" name="subtitle">
            <a:extLst xmlns:a="http://schemas.openxmlformats.org/drawingml/2006/main">
              <a:ext uri="{FF2B5EF4-FFF2-40B4-BE49-F238E27FC236}">
                <a16:creationId xmlns:a16="http://schemas.microsoft.com/office/drawing/2014/main" id="{1027E960-7E2D-4E72-BFA0-DDC82BA9C5E2}"/>
              </a:ext>
            </a:extLst>
          </p:cNvPr>
          <p:cNvSpPr>
            <a:spLocks xmlns:a="http://schemas.openxmlformats.org/drawingml/2006/main" noGrp="1"/>
          </p:cNvSpPr>
          <p:nvPr/>
        </p:nvSpPr>
        <p:spPr>
          <a:xfrm xmlns:a="http://schemas.openxmlformats.org/drawingml/2006/main">
            <a:off x="457200" y="24574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BB071"/>
                </a:solidFill>
                <a:latin typeface="Microsoft YaHei"/>
                <a:ea typeface="Microsoft YaHei"/>
                <a:cs typeface="Microsoft YaHei"/>
              </a:defRPr>
            </a:defPPr>
          </a:lstStyle>
          <a:p xmlns:a="http://schemas.openxmlformats.org/drawingml/2006/main">
            <a:pPr>
              <a:defRPr sz="2025" b="0">
                <a:solidFill>
                  <a:srgbClr val="DBB071"/>
                </a:solidFill>
                <a:latin typeface="Microsoft YaHei"/>
                <a:ea typeface="Microsoft YaHei"/>
                <a:cs typeface="Microsoft YaHei"/>
              </a:defRPr>
            </a:pPr>
            <a:r>
              <a:rPr sz="2025" b="0">
                <a:solidFill>
                  <a:srgbClr val="DBB071"/>
                </a:solidFill>
                <a:latin typeface="Microsoft YaHei"/>
                <a:ea typeface="Microsoft YaHei"/>
                <a:cs typeface="Microsoft YaHei"/>
              </a:rPr>
              <a:t>石砌古堡，黄铜机械</a:t>
            </a:r>
          </a:p>
        </p:txBody>
      </p:sp>
      <p:sp>
        <p:nvSpPr>
          <p:cNvPr id="4" name="story-label">
            <a:extLst xmlns:a="http://schemas.openxmlformats.org/drawingml/2006/main">
              <a:ext uri="{FF2B5EF4-FFF2-40B4-BE49-F238E27FC236}">
                <a16:creationId xmlns:a16="http://schemas.microsoft.com/office/drawing/2014/main" id="{3FBE9582-95E0-4BDE-B352-F912483B14B2}"/>
              </a:ext>
            </a:extLst>
          </p:cNvPr>
          <p:cNvSpPr>
            <a:spLocks xmlns:a="http://schemas.openxmlformats.org/drawingml/2006/main" noGrp="1"/>
          </p:cNvSpPr>
          <p:nvPr/>
        </p:nvSpPr>
        <p:spPr>
          <a:xfrm xmlns:a="http://schemas.openxmlformats.org/drawingml/2006/main">
            <a:off x="457200" y="31527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故事设定</a:t>
            </a:r>
          </a:p>
        </p:txBody>
      </p:sp>
      <p:sp>
        <p:nvSpPr>
          <p:cNvPr id="5" name="story">
            <a:extLst xmlns:a="http://schemas.openxmlformats.org/drawingml/2006/main">
              <a:ext uri="{FF2B5EF4-FFF2-40B4-BE49-F238E27FC236}">
                <a16:creationId xmlns:a16="http://schemas.microsoft.com/office/drawing/2014/main" id="{115ADCD2-ADCE-40E9-8F43-938CF6073BDE}"/>
              </a:ext>
            </a:extLst>
          </p:cNvPr>
          <p:cNvSpPr>
            <a:spLocks xmlns:a="http://schemas.openxmlformats.org/drawingml/2006/main" noGrp="1"/>
          </p:cNvSpPr>
          <p:nvPr/>
        </p:nvSpPr>
        <p:spPr>
          <a:xfrm xmlns:a="http://schemas.openxmlformats.org/drawingml/2006/main">
            <a:off x="457200" y="3571875"/>
            <a:ext cx="36766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2E0DC"/>
                </a:solidFill>
                <a:latin typeface="Microsoft YaHei"/>
                <a:ea typeface="Microsoft YaHei"/>
                <a:cs typeface="Microsoft YaHei"/>
              </a:defRPr>
            </a:defPPr>
          </a:lstStyle>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永昼之心停止后，王城仍不断重组。机械守卫清除所有未登记人员。</a:t>
            </a:r>
          </a:p>
          <a:p xmlns:a="http://schemas.openxmlformats.org/drawingml/2006/main">
            <a:r>
              <a:t/>
            </a:r>
          </a:p>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玩家是一名身份被抹去的维修骑士，回城寻找启动钥匙。</a:t>
            </a:r>
          </a:p>
        </p:txBody>
      </p:sp>
      <p:sp>
        <p:nvSpPr>
          <p:cNvPr id="6" name="hook">
            <a:extLst xmlns:a="http://schemas.openxmlformats.org/drawingml/2006/main">
              <a:ext uri="{FF2B5EF4-FFF2-40B4-BE49-F238E27FC236}">
                <a16:creationId xmlns:a16="http://schemas.microsoft.com/office/drawing/2014/main" id="{ED8512B9-A430-4D2F-9A30-ED77CDAFFF0E}"/>
              </a:ext>
            </a:extLst>
          </p:cNvPr>
          <p:cNvSpPr>
            <a:spLocks xmlns:a="http://schemas.openxmlformats.org/drawingml/2006/main" noGrp="1"/>
          </p:cNvSpPr>
          <p:nvPr/>
        </p:nvSpPr>
        <p:spPr>
          <a:xfrm xmlns:a="http://schemas.openxmlformats.org/drawingml/2006/main">
            <a:off x="457200" y="5381625"/>
            <a:ext cx="3714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7B5BD"/>
                </a:solidFill>
                <a:latin typeface="Microsoft YaHei"/>
                <a:ea typeface="Microsoft YaHei"/>
                <a:cs typeface="Microsoft YaHei"/>
              </a:defRPr>
            </a:defPPr>
          </a:lstStyle>
          <a:p xmlns:a="http://schemas.openxmlformats.org/drawingml/2006/main">
            <a:pPr>
              <a:defRPr sz="1650" b="0">
                <a:solidFill>
                  <a:srgbClr val="A7B5BD"/>
                </a:solidFill>
                <a:latin typeface="Microsoft YaHei"/>
                <a:ea typeface="Microsoft YaHei"/>
                <a:cs typeface="Microsoft YaHei"/>
              </a:defRPr>
            </a:pPr>
            <a:r>
              <a:rPr sz="1650" b="0">
                <a:solidFill>
                  <a:srgbClr val="A7B5BD"/>
                </a:solidFill>
                <a:latin typeface="Microsoft YaHei"/>
                <a:ea typeface="Microsoft YaHei"/>
                <a:cs typeface="Microsoft YaHei"/>
              </a:rPr>
              <a:t>维修记录写着：</a:t>
            </a:r>
          </a:p>
          <a:p xmlns:a="http://schemas.openxmlformats.org/drawingml/2006/main">
            <a:pPr>
              <a:defRPr sz="1650" b="0">
                <a:solidFill>
                  <a:srgbClr val="A7B5BD"/>
                </a:solidFill>
                <a:latin typeface="Microsoft YaHei"/>
                <a:ea typeface="Microsoft YaHei"/>
                <a:cs typeface="Microsoft YaHei"/>
              </a:defRPr>
            </a:pPr>
            <a:r>
              <a:rPr sz="1650" b="0">
                <a:solidFill>
                  <a:srgbClr val="A7B5BD"/>
                </a:solidFill>
                <a:latin typeface="Microsoft YaHei"/>
                <a:ea typeface="Microsoft YaHei"/>
                <a:cs typeface="Microsoft YaHei"/>
              </a:rPr>
              <a:t>“如果你再次抵达这里，</a:t>
            </a:r>
          </a:p>
          <a:p xmlns:a="http://schemas.openxmlformats.org/drawingml/2006/main">
            <a:pPr>
              <a:defRPr sz="1650" b="0">
                <a:solidFill>
                  <a:srgbClr val="A7B5BD"/>
                </a:solidFill>
                <a:latin typeface="Microsoft YaHei"/>
                <a:ea typeface="Microsoft YaHei"/>
                <a:cs typeface="Microsoft YaHei"/>
              </a:defRPr>
            </a:pPr>
            <a:r>
              <a:rPr sz="1650" b="0">
                <a:solidFill>
                  <a:srgbClr val="A7B5BD"/>
                </a:solidFill>
                <a:latin typeface="Microsoft YaHei"/>
                <a:ea typeface="Microsoft YaHei"/>
                <a:cs typeface="Microsoft YaHei"/>
              </a:rPr>
              <a:t>请不要启动它。”</a:t>
            </a:r>
          </a:p>
          <a:p xmlns:a="http://schemas.openxmlformats.org/drawingml/2006/main">
            <a:pPr>
              <a:defRPr sz="1650" b="0">
                <a:solidFill>
                  <a:srgbClr val="A7B5BD"/>
                </a:solidFill>
                <a:latin typeface="Microsoft YaHei"/>
                <a:ea typeface="Microsoft YaHei"/>
                <a:cs typeface="Microsoft YaHei"/>
              </a:defRPr>
            </a:pPr>
            <a:r>
              <a:rPr sz="1650" b="0">
                <a:solidFill>
                  <a:srgbClr val="A7B5BD"/>
                </a:solidFill>
                <a:latin typeface="Microsoft YaHei"/>
                <a:ea typeface="Microsoft YaHei"/>
                <a:cs typeface="Microsoft YaHei"/>
              </a:rPr>
              <a:t>落款是玩家自己的名字。</a:t>
            </a:r>
          </a:p>
        </p:txBody>
      </p:sp>
      <p:pic>
        <p:nvPicPr>
          <p:cNvPr id="7" name="">
            <a:extLst xmlns:a="http://schemas.openxmlformats.org/drawingml/2006/main">
              <a:ext uri="{FF2B5EF4-FFF2-40B4-BE49-F238E27FC236}">
                <a16:creationId xmlns:a16="http://schemas.microsoft.com/office/drawing/2014/main" id="{254E23A3-862B-4B36-9996-8DCA2BD28871}"/>
              </a:ext>
            </a:extLst>
          </p:cNvPr>
          <p:cNvPicPr>
            <a:picLocks xmlns:a="http://schemas.openxmlformats.org/drawingml/2006/main" noChangeAspect="1"/>
          </p:cNvPicPr>
          <p:nvPr/>
        </p:nvPicPr>
        <p:blipFill>
          <a:blip xmlns:r="http://schemas.openxmlformats.org/officeDocument/2006/relationships" xmlns:a="http://schemas.openxmlformats.org/drawingml/2006/main" r:embed="R9a0557053b034198"/>
          <a:srcRect xmlns:a="http://schemas.openxmlformats.org/drawingml/2006/main" l="0" t="27" r="0" b="27"/>
          <a:stretch xmlns:a="http://schemas.openxmlformats.org/drawingml/2006/main">
            <a:fillRect l="0" t="0" r="0" b="0"/>
          </a:stretch>
        </p:blipFill>
        <p:spPr>
          <a:xfrm xmlns:a="http://schemas.openxmlformats.org/drawingml/2006/main">
            <a:off x="4572000" y="723900"/>
            <a:ext cx="7162800" cy="4029075"/>
          </a:xfrm>
          <a:prstGeom xmlns:a="http://schemas.openxmlformats.org/drawingml/2006/main" prst="rect">
            <a:avLst/>
          </a:prstGeom>
        </p:spPr>
      </p:pic>
      <p:sp>
        <p:nvSpPr>
          <p:cNvPr id="8" name="image-caption">
            <a:extLst xmlns:a="http://schemas.openxmlformats.org/drawingml/2006/main">
              <a:ext uri="{FF2B5EF4-FFF2-40B4-BE49-F238E27FC236}">
                <a16:creationId xmlns:a16="http://schemas.microsoft.com/office/drawing/2014/main" id="{4B702B40-7583-4A23-BFA9-B1D3481058CD}"/>
              </a:ext>
            </a:extLst>
          </p:cNvPr>
          <p:cNvSpPr>
            <a:spLocks xmlns:a="http://schemas.openxmlformats.org/drawingml/2006/main" noGrp="1"/>
          </p:cNvSpPr>
          <p:nvPr/>
        </p:nvSpPr>
        <p:spPr>
          <a:xfrm xmlns:a="http://schemas.openxmlformats.org/drawingml/2006/main">
            <a:off x="4572000" y="4838700"/>
            <a:ext cx="716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7B5BD"/>
                </a:solidFill>
                <a:latin typeface="Microsoft YaHei"/>
                <a:ea typeface="Microsoft YaHei"/>
                <a:cs typeface="Microsoft YaHei"/>
              </a:defRPr>
            </a:defPPr>
          </a:lstStyle>
          <a:p xmlns:a="http://schemas.openxmlformats.org/drawingml/2006/main">
            <a:pPr>
              <a:defRPr sz="1275" b="0">
                <a:solidFill>
                  <a:srgbClr val="A7B5BD"/>
                </a:solidFill>
                <a:latin typeface="Microsoft YaHei"/>
                <a:ea typeface="Microsoft YaHei"/>
                <a:cs typeface="Microsoft YaHei"/>
              </a:defRPr>
            </a:pPr>
            <a:r>
              <a:rPr sz="1275" b="0">
                <a:solidFill>
                  <a:srgbClr val="A7B5BD"/>
                </a:solidFill>
                <a:latin typeface="Microsoft YaHei"/>
                <a:ea typeface="Microsoft YaHei"/>
                <a:cs typeface="Microsoft YaHei"/>
              </a:rPr>
              <a:t>AI 概念示意图，展示目标氛围与空间语言</a:t>
            </a:r>
          </a:p>
        </p:txBody>
      </p:sp>
      <p:sp>
        <p:nvSpPr>
          <p:cNvPr id="9" name="zone-0">
            <a:extLst xmlns:a="http://schemas.openxmlformats.org/drawingml/2006/main">
              <a:ext uri="{FF2B5EF4-FFF2-40B4-BE49-F238E27FC236}">
                <a16:creationId xmlns:a16="http://schemas.microsoft.com/office/drawing/2014/main" id="{300E8830-951C-4363-8C12-021E34F38AF3}"/>
              </a:ext>
            </a:extLst>
          </p:cNvPr>
          <p:cNvSpPr>
            <a:spLocks xmlns:a="http://schemas.openxmlformats.org/drawingml/2006/main" noGrp="1"/>
          </p:cNvSpPr>
          <p:nvPr/>
        </p:nvSpPr>
        <p:spPr>
          <a:xfrm xmlns:a="http://schemas.openxmlformats.org/drawingml/2006/main">
            <a:off x="45720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探索区</a:t>
            </a:r>
          </a:p>
        </p:txBody>
      </p:sp>
      <p:sp>
        <p:nvSpPr>
          <p:cNvPr id="10" name="zone-note-0">
            <a:extLst xmlns:a="http://schemas.openxmlformats.org/drawingml/2006/main">
              <a:ext uri="{FF2B5EF4-FFF2-40B4-BE49-F238E27FC236}">
                <a16:creationId xmlns:a16="http://schemas.microsoft.com/office/drawing/2014/main" id="{B5450269-6B23-4DA1-861C-1459B94D8643}"/>
              </a:ext>
            </a:extLst>
          </p:cNvPr>
          <p:cNvSpPr>
            <a:spLocks xmlns:a="http://schemas.openxmlformats.org/drawingml/2006/main" noGrp="1"/>
          </p:cNvSpPr>
          <p:nvPr/>
        </p:nvSpPr>
        <p:spPr>
          <a:xfrm xmlns:a="http://schemas.openxmlformats.org/drawingml/2006/main">
            <a:off x="45720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军械库与维修街巷</a:t>
            </a:r>
          </a:p>
        </p:txBody>
      </p:sp>
      <p:sp>
        <p:nvSpPr>
          <p:cNvPr id="11" name="zone-1">
            <a:extLst xmlns:a="http://schemas.openxmlformats.org/drawingml/2006/main">
              <a:ext uri="{FF2B5EF4-FFF2-40B4-BE49-F238E27FC236}">
                <a16:creationId xmlns:a16="http://schemas.microsoft.com/office/drawing/2014/main" id="{1F7DBB4D-08F0-4189-990C-EFB8E8ACABB9}"/>
              </a:ext>
            </a:extLst>
          </p:cNvPr>
          <p:cNvSpPr>
            <a:spLocks xmlns:a="http://schemas.openxmlformats.org/drawingml/2006/main" noGrp="1"/>
          </p:cNvSpPr>
          <p:nvPr/>
        </p:nvSpPr>
        <p:spPr>
          <a:xfrm xmlns:a="http://schemas.openxmlformats.org/drawingml/2006/main">
            <a:off x="70104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藏宝洞</a:t>
            </a:r>
          </a:p>
        </p:txBody>
      </p:sp>
      <p:sp>
        <p:nvSpPr>
          <p:cNvPr id="12" name="zone-note-1">
            <a:extLst xmlns:a="http://schemas.openxmlformats.org/drawingml/2006/main">
              <a:ext uri="{FF2B5EF4-FFF2-40B4-BE49-F238E27FC236}">
                <a16:creationId xmlns:a16="http://schemas.microsoft.com/office/drawing/2014/main" id="{4B8B7005-AE5E-473F-83D9-FD718DBAEEF6}"/>
              </a:ext>
            </a:extLst>
          </p:cNvPr>
          <p:cNvSpPr>
            <a:spLocks xmlns:a="http://schemas.openxmlformats.org/drawingml/2006/main" noGrp="1"/>
          </p:cNvSpPr>
          <p:nvPr/>
        </p:nvSpPr>
        <p:spPr>
          <a:xfrm xmlns:a="http://schemas.openxmlformats.org/drawingml/2006/main">
            <a:off x="70104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封存档案与旧零件仓</a:t>
            </a:r>
          </a:p>
        </p:txBody>
      </p:sp>
      <p:sp>
        <p:nvSpPr>
          <p:cNvPr id="13" name="zone-2">
            <a:extLst xmlns:a="http://schemas.openxmlformats.org/drawingml/2006/main">
              <a:ext uri="{FF2B5EF4-FFF2-40B4-BE49-F238E27FC236}">
                <a16:creationId xmlns:a16="http://schemas.microsoft.com/office/drawing/2014/main" id="{BB133DCF-FE38-4B01-A8EC-D13EC3CC5CD8}"/>
              </a:ext>
            </a:extLst>
          </p:cNvPr>
          <p:cNvSpPr>
            <a:spLocks xmlns:a="http://schemas.openxmlformats.org/drawingml/2006/main" noGrp="1"/>
          </p:cNvSpPr>
          <p:nvPr/>
        </p:nvSpPr>
        <p:spPr>
          <a:xfrm xmlns:a="http://schemas.openxmlformats.org/drawingml/2006/main">
            <a:off x="94488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Boss 场地</a:t>
            </a:r>
          </a:p>
        </p:txBody>
      </p:sp>
      <p:sp>
        <p:nvSpPr>
          <p:cNvPr id="14" name="zone-note-2">
            <a:extLst xmlns:a="http://schemas.openxmlformats.org/drawingml/2006/main">
              <a:ext uri="{FF2B5EF4-FFF2-40B4-BE49-F238E27FC236}">
                <a16:creationId xmlns:a16="http://schemas.microsoft.com/office/drawing/2014/main" id="{4D830EA5-003B-4E21-8DB1-1D4DDEBD144B}"/>
              </a:ext>
            </a:extLst>
          </p:cNvPr>
          <p:cNvSpPr>
            <a:spLocks xmlns:a="http://schemas.openxmlformats.org/drawingml/2006/main" noGrp="1"/>
          </p:cNvSpPr>
          <p:nvPr/>
        </p:nvSpPr>
        <p:spPr>
          <a:xfrm xmlns:a="http://schemas.openxmlformats.org/drawingml/2006/main">
            <a:off x="94488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巨型钟楼检修大厅</a:t>
            </a:r>
          </a:p>
        </p:txBody>
      </p:sp>
      <p:sp>
        <p:nvSpPr>
          <p:cNvPr id="15" name="palette-0">
            <a:extLst xmlns:a="http://schemas.openxmlformats.org/drawingml/2006/main">
              <a:ext uri="{FF2B5EF4-FFF2-40B4-BE49-F238E27FC236}">
                <a16:creationId xmlns:a16="http://schemas.microsoft.com/office/drawing/2014/main" id="{0BAF75DB-BC64-41FF-AA24-1EC13693E68B}"/>
              </a:ext>
            </a:extLst>
          </p:cNvPr>
          <p:cNvSpPr>
            <a:spLocks xmlns:a="http://schemas.openxmlformats.org/drawingml/2006/main" noGrp="1"/>
          </p:cNvSpPr>
          <p:nvPr/>
        </p:nvSpPr>
        <p:spPr>
          <a:xfrm xmlns:a="http://schemas.openxmlformats.org/drawingml/2006/main">
            <a:off x="45720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灰蓝石材 #343D49</a:t>
            </a:r>
          </a:p>
        </p:txBody>
      </p:sp>
      <p:sp>
        <p:nvSpPr>
          <p:cNvPr id="16" name="palette-1">
            <a:extLst xmlns:a="http://schemas.openxmlformats.org/drawingml/2006/main">
              <a:ext uri="{FF2B5EF4-FFF2-40B4-BE49-F238E27FC236}">
                <a16:creationId xmlns:a16="http://schemas.microsoft.com/office/drawing/2014/main" id="{51536B54-4BFE-4FFC-ACDC-4DFC0E069A83}"/>
              </a:ext>
            </a:extLst>
          </p:cNvPr>
          <p:cNvSpPr>
            <a:spLocks xmlns:a="http://schemas.openxmlformats.org/drawingml/2006/main" noGrp="1"/>
          </p:cNvSpPr>
          <p:nvPr/>
        </p:nvSpPr>
        <p:spPr>
          <a:xfrm xmlns:a="http://schemas.openxmlformats.org/drawingml/2006/main">
            <a:off x="63817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旧黄铜 #A67C45</a:t>
            </a:r>
          </a:p>
        </p:txBody>
      </p:sp>
      <p:sp>
        <p:nvSpPr>
          <p:cNvPr id="17" name="palette-2">
            <a:extLst xmlns:a="http://schemas.openxmlformats.org/drawingml/2006/main">
              <a:ext uri="{FF2B5EF4-FFF2-40B4-BE49-F238E27FC236}">
                <a16:creationId xmlns:a16="http://schemas.microsoft.com/office/drawing/2014/main" id="{56A8B85F-33CE-4222-8EBE-82130CDBBE9D}"/>
              </a:ext>
            </a:extLst>
          </p:cNvPr>
          <p:cNvSpPr>
            <a:spLocks xmlns:a="http://schemas.openxmlformats.org/drawingml/2006/main" noGrp="1"/>
          </p:cNvSpPr>
          <p:nvPr/>
        </p:nvSpPr>
        <p:spPr>
          <a:xfrm xmlns:a="http://schemas.openxmlformats.org/drawingml/2006/main">
            <a:off x="81915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青蓝能源 #54C7CC</a:t>
            </a:r>
          </a:p>
        </p:txBody>
      </p:sp>
      <p:sp>
        <p:nvSpPr>
          <p:cNvPr id="18" name="palette-3">
            <a:extLst xmlns:a="http://schemas.openxmlformats.org/drawingml/2006/main">
              <a:ext uri="{FF2B5EF4-FFF2-40B4-BE49-F238E27FC236}">
                <a16:creationId xmlns:a16="http://schemas.microsoft.com/office/drawing/2014/main" id="{E654DC8F-5D44-45C2-8D1D-8CB3745F710A}"/>
              </a:ext>
            </a:extLst>
          </p:cNvPr>
          <p:cNvSpPr>
            <a:spLocks xmlns:a="http://schemas.openxmlformats.org/drawingml/2006/main" noGrp="1"/>
          </p:cNvSpPr>
          <p:nvPr/>
        </p:nvSpPr>
        <p:spPr>
          <a:xfrm xmlns:a="http://schemas.openxmlformats.org/drawingml/2006/main">
            <a:off x="100012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琥珀奖励 #E8AF54</a:t>
            </a:r>
          </a:p>
        </p:txBody>
      </p:sp>
      <p:sp>
        <p:nvSpPr>
          <p:cNvPr id="19" name="page">
            <a:extLst xmlns:a="http://schemas.openxmlformats.org/drawingml/2006/main">
              <a:ext uri="{FF2B5EF4-FFF2-40B4-BE49-F238E27FC236}">
                <a16:creationId xmlns:a16="http://schemas.microsoft.com/office/drawing/2014/main" id="{6BE51027-1B7C-478F-A4E6-197F244F7A65}"/>
              </a:ext>
            </a:extLst>
          </p:cNvPr>
          <p:cNvSpPr>
            <a:spLocks xmlns:a="http://schemas.openxmlformats.org/drawingml/2006/main" noGrp="1"/>
          </p:cNvSpPr>
          <p:nvPr/>
        </p:nvSpPr>
        <p:spPr>
          <a:xfrm xmlns:a="http://schemas.openxmlformats.org/drawingml/2006/main">
            <a:off x="11239500" y="65055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7B5BD"/>
                </a:solidFill>
                <a:latin typeface="Microsoft YaHei"/>
                <a:ea typeface="Microsoft YaHei"/>
                <a:cs typeface="Microsoft YaHei"/>
              </a:defRPr>
            </a:defPPr>
          </a:lstStyle>
          <a:p xmlns:a="http://schemas.openxmlformats.org/drawingml/2006/main">
            <a:pPr>
              <a:defRPr sz="1200" b="0">
                <a:solidFill>
                  <a:srgbClr val="A7B5BD"/>
                </a:solidFill>
                <a:latin typeface="Microsoft YaHei"/>
                <a:ea typeface="Microsoft YaHei"/>
                <a:cs typeface="Microsoft YaHei"/>
              </a:defRPr>
            </a:pPr>
            <a:r>
              <a:rPr sz="1200" b="0">
                <a:solidFill>
                  <a:srgbClr val="A7B5BD"/>
                </a:solidFill>
                <a:latin typeface="Microsoft YaHei"/>
                <a:ea typeface="Microsoft YaHei"/>
                <a:cs typeface="Microsoft YaHei"/>
              </a:rPr>
              <a:t>1 / 2</a:t>
            </a:r>
          </a:p>
        </p:txBody>
      </p:sp>
    </p:spTree>
    <p:extLst>
      <p:ext uri="{BB962C8B-B14F-4D97-AF65-F5344CB8AC3E}">
        <p14:creationId xmlns:p14="http://schemas.microsoft.com/office/powerpoint/2010/main" val="1583711617"/>
      </p:ext>
    </p:extLst>
  </p:cSld>
</p:sld>
</file>

<file path=ppt/slides/slide2.xml><?xml version="1.0" encoding="utf-8"?>
<p:sld xmlns:p="http://schemas.openxmlformats.org/presentationml/2006/main">
  <p:cSld>
    <p:bg>
      <p:bgPr>
        <a:solidFill xmlns:a="http://schemas.openxmlformats.org/drawingml/2006/main">
          <a:srgbClr val="111A23"/>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771208C2-6A90-4D7B-A3AB-0D758256DC86}"/>
              </a:ext>
            </a:extLst>
          </p:cNvPr>
          <p:cNvSpPr>
            <a:spLocks xmlns:a="http://schemas.openxmlformats.org/drawingml/2006/main" noGrp="1"/>
          </p:cNvSpPr>
          <p:nvPr/>
        </p:nvSpPr>
        <p:spPr>
          <a:xfrm xmlns:a="http://schemas.openxmlformats.org/drawingml/2006/main">
            <a:off x="457200" y="438150"/>
            <a:ext cx="11182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2EFE8"/>
                </a:solidFill>
                <a:latin typeface="Microsoft YaHei"/>
                <a:ea typeface="Microsoft YaHei"/>
                <a:cs typeface="Microsoft YaHei"/>
              </a:defRPr>
            </a:defPPr>
          </a:lstStyle>
          <a:p xmlns:a="http://schemas.openxmlformats.org/drawingml/2006/main">
            <a:pPr>
              <a:defRPr sz="3300" b="1">
                <a:solidFill>
                  <a:srgbClr val="F2EFE8"/>
                </a:solidFill>
                <a:latin typeface="Microsoft YaHei"/>
                <a:ea typeface="Microsoft YaHei"/>
                <a:cs typeface="Microsoft YaHei"/>
              </a:defRPr>
            </a:pPr>
            <a:r>
              <a:rPr sz="3300" b="1">
                <a:solidFill>
                  <a:srgbClr val="F2EFE8"/>
                </a:solidFill>
                <a:latin typeface="Microsoft YaHei"/>
                <a:ea typeface="Microsoft YaHei"/>
                <a:cs typeface="Microsoft YaHei"/>
              </a:rPr>
              <a:t>停摆的机关王城：素材清单</a:t>
            </a:r>
          </a:p>
        </p:txBody>
      </p:sp>
      <p:sp>
        <p:nvSpPr>
          <p:cNvPr id="2" name="priority">
            <a:extLst xmlns:a="http://schemas.openxmlformats.org/drawingml/2006/main">
              <a:ext uri="{FF2B5EF4-FFF2-40B4-BE49-F238E27FC236}">
                <a16:creationId xmlns:a16="http://schemas.microsoft.com/office/drawing/2014/main" id="{E2082736-533B-4375-A502-8BC77E9AF44B}"/>
              </a:ext>
            </a:extLst>
          </p:cNvPr>
          <p:cNvSpPr>
            <a:spLocks xmlns:a="http://schemas.openxmlformats.org/drawingml/2006/main" noGrp="1"/>
          </p:cNvSpPr>
          <p:nvPr/>
        </p:nvSpPr>
        <p:spPr>
          <a:xfrm xmlns:a="http://schemas.openxmlformats.org/drawingml/2006/main">
            <a:off x="457200" y="1152525"/>
            <a:ext cx="1118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BB071"/>
                </a:solidFill>
                <a:latin typeface="Microsoft YaHei"/>
                <a:ea typeface="Microsoft YaHei"/>
                <a:cs typeface="Microsoft YaHei"/>
              </a:defRPr>
            </a:defPPr>
          </a:lstStyle>
          <a:p xmlns:a="http://schemas.openxmlformats.org/drawingml/2006/main">
            <a:pPr>
              <a:defRPr sz="1875" b="0">
                <a:solidFill>
                  <a:srgbClr val="DBB071"/>
                </a:solidFill>
                <a:latin typeface="Microsoft YaHei"/>
                <a:ea typeface="Microsoft YaHei"/>
                <a:cs typeface="Microsoft YaHei"/>
              </a:defRPr>
            </a:pPr>
            <a:r>
              <a:rPr sz="1875" b="0">
                <a:solidFill>
                  <a:srgbClr val="DBB071"/>
                </a:solidFill>
                <a:latin typeface="Microsoft YaHei"/>
                <a:ea typeface="Microsoft YaHei"/>
                <a:cs typeface="Microsoft YaHei"/>
              </a:rPr>
              <a:t>P0 首版必需，先完成可拼接建筑、基础敌人和一把武器</a:t>
            </a:r>
          </a:p>
        </p:txBody>
      </p:sp>
      <p:graphicFrame>
        <p:nvGraphicFramePr>
          <p:cNvPr id="3" name="">
            <a:extLst xmlns:a="http://schemas.openxmlformats.org/drawingml/2006/main">
              <a:ext uri="{FF2B5EF4-FFF2-40B4-BE49-F238E27FC236}">
                <a16:creationId xmlns:a16="http://schemas.microsoft.com/office/drawing/2014/main" id="{524D60AC-C4EF-4B3E-B348-B5C748503CAB}"/>
              </a:ext>
            </a:extLst>
          </p:cNvPr>
          <p:cNvGraphicFramePr/>
          <p:nvPr/>
        </p:nvGraphicFramePr>
        <p:xfrm>
          <a:off xmlns:a="http://schemas.openxmlformats.org/drawingml/2006/main" x="457200" y="1657350"/>
          <a:ext xmlns:a="http://schemas.openxmlformats.org/drawingml/2006/main" cx="8020050" cy="3905250"/>
        </p:xfrm>
        <a:graphic xmlns:a="http://schemas.openxmlformats.org/drawingml/2006/main">
          <a:graphicData uri="http://schemas.openxmlformats.org/drawingml/2006/table">
            <a:tbl>
              <a:tblPr firstRow="0" bandRow="0"/>
              <a:tblGrid>
                <a:gridCol w="1066800"/>
                <a:gridCol w="3476625"/>
                <a:gridCol w="3476625"/>
              </a:tblGrid>
              <a:tr h="476250">
                <a:tc>
                  <a:txBody>
                    <a:bodyPr wrap="square" lIns="114300" tIns="95250" rIns="95250" bIns="95250">
                      <a:noAutofit/>
                    </a:bodyPr>
                    <a:lstStyle/>
                    <a:p>
                      <a:r>
                        <a:rPr sz="1800" b="1">
                          <a:solidFill>
                            <a:srgbClr val="DBB071"/>
                          </a:solidFill>
                          <a:latin typeface="Microsoft YaHei"/>
                          <a:ea typeface="Microsoft YaHei"/>
                          <a:cs typeface="Microsoft YaHei"/>
                        </a:rPr>
                        <a:t>用途</a:t>
                      </a:r>
                    </a:p>
                  </a:txBody>
                  <a:tcPr marL="91440" marR="91440" marT="45720" marB="45720" anchor="ctr">
                    <a:lnL w="4763">
                      <a:solidFill>
                        <a:srgbClr val="52616A"/>
                      </a:solidFill>
                      <a:prstDash val="solid"/>
                    </a:lnL>
                    <a:lnR w="4763">
                      <a:solidFill>
                        <a:srgbClr val="52616A"/>
                      </a:solidFill>
                      <a:prstDash val="solid"/>
                    </a:lnR>
                    <a:lnT w="4763">
                      <a:solidFill>
                        <a:srgbClr val="52616A"/>
                      </a:solidFill>
                      <a:prstDash val="solid"/>
                    </a:lnT>
                    <a:lnB w="4763">
                      <a:solidFill>
                        <a:srgbClr val="52616A"/>
                      </a:solidFill>
                      <a:prstDash val="solid"/>
                    </a:lnB>
                    <a:solidFill>
                      <a:srgbClr val="111A23"/>
                    </a:solidFill>
                  </a:tcPr>
                </a:tc>
                <a:tc>
                  <a:txBody>
                    <a:bodyPr wrap="square" lIns="114300" tIns="95250" rIns="95250" bIns="95250">
                      <a:noAutofit/>
                    </a:bodyPr>
                    <a:lstStyle/>
                    <a:p>
                      <a:r>
                        <a:rPr sz="1800" b="1">
                          <a:solidFill>
                            <a:srgbClr val="DBB071"/>
                          </a:solidFill>
                          <a:latin typeface="Microsoft YaHei"/>
                          <a:ea typeface="Microsoft YaHei"/>
                          <a:cs typeface="Microsoft YaHei"/>
                        </a:rPr>
                        <a:t>需要找的模型</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11A23"/>
                    </a:solidFill>
                  </a:tcPr>
                </a:tc>
                <a:tc>
                  <a:txBody>
                    <a:bodyPr wrap="square" lIns="114300" tIns="95250" rIns="95250" bIns="95250">
                      <a:noAutofit/>
                    </a:bodyPr>
                    <a:lstStyle/>
                    <a:p>
                      <a:r>
                        <a:rPr sz="1800" b="1">
                          <a:solidFill>
                            <a:srgbClr val="DBB071"/>
                          </a:solidFill>
                          <a:latin typeface="Microsoft YaHei"/>
                          <a:ea typeface="Microsoft YaHei"/>
                          <a:cs typeface="Microsoft YaHei"/>
                        </a:rPr>
                        <a:t>需要找的贴图 / 材质</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11A23"/>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探索区</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石墙、门框、尖拱</a:t>
                      </a:r>
                    </a:p>
                    <a:p>
                      <a:r>
                        <a:rPr sz="1725" b="0">
                          <a:solidFill>
                            <a:srgbClr val="EBE8E1"/>
                          </a:solidFill>
                          <a:latin typeface="Microsoft YaHei"/>
                          <a:ea typeface="Microsoft YaHei"/>
                          <a:cs typeface="Microsoft YaHei"/>
                        </a:rPr>
                        <a:t>铜管、栏杆、格栅</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灰蓝石砖、旧黄铜</a:t>
                      </a:r>
                    </a:p>
                    <a:p>
                      <a:r>
                        <a:rPr sz="1725" b="0">
                          <a:solidFill>
                            <a:srgbClr val="EBE8E1"/>
                          </a:solidFill>
                          <a:latin typeface="Microsoft YaHei"/>
                          <a:ea typeface="Microsoft YaHei"/>
                          <a:cs typeface="Microsoft YaHei"/>
                        </a:rPr>
                        <a:t>油污、裂缝、接缝贴花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藏宝洞</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档案柜、货架、能源容器</a:t>
                      </a:r>
                    </a:p>
                    <a:p>
                      <a:r>
                        <a:rPr sz="1725" b="0">
                          <a:solidFill>
                            <a:srgbClr val="EBE8E1"/>
                          </a:solidFill>
                          <a:latin typeface="Microsoft YaHei"/>
                          <a:ea typeface="Microsoft YaHei"/>
                          <a:cs typeface="Microsoft YaHei"/>
                        </a:rPr>
                        <a:t>机械心脏、零件宝箱</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磨损金属、旧纸张</a:t>
                      </a:r>
                    </a:p>
                    <a:p>
                      <a:r>
                        <a:rPr sz="1725" b="0">
                          <a:solidFill>
                            <a:srgbClr val="EBE8E1"/>
                          </a:solidFill>
                          <a:latin typeface="Microsoft YaHei"/>
                          <a:ea typeface="Microsoft YaHei"/>
                          <a:cs typeface="Microsoft YaHei"/>
                        </a:rPr>
                        <a:t>编号、锈迹、发光遮罩</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Boss 场地</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钟面、齿轮、活塞、配重</a:t>
                      </a:r>
                    </a:p>
                    <a:p>
                      <a:r>
                        <a:rPr sz="1725" b="0">
                          <a:solidFill>
                            <a:srgbClr val="EBE8E1"/>
                          </a:solidFill>
                          <a:latin typeface="Microsoft YaHei"/>
                          <a:ea typeface="Microsoft YaHei"/>
                          <a:cs typeface="Microsoft YaHei"/>
                        </a:rPr>
                        <a:t>高台、坡道、机械机座</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铆钉钢板、格栅材质</a:t>
                      </a:r>
                    </a:p>
                    <a:p>
                      <a:r>
                        <a:rPr sz="1725" b="0">
                          <a:solidFill>
                            <a:srgbClr val="EBE8E1"/>
                          </a:solidFill>
                          <a:latin typeface="Microsoft YaHei"/>
                          <a:ea typeface="Microsoft YaHei"/>
                          <a:cs typeface="Microsoft YaHei"/>
                        </a:rPr>
                        <a:t>油渍、磨损边缘贴花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角色武器</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发条骑士、重甲精英</a:t>
                      </a:r>
                    </a:p>
                    <a:p>
                      <a:r>
                        <a:rPr sz="1725" b="0">
                          <a:solidFill>
                            <a:srgbClr val="EBE8E1"/>
                          </a:solidFill>
                          <a:latin typeface="Microsoft YaHei"/>
                          <a:ea typeface="Microsoft YaHei"/>
                          <a:cs typeface="Microsoft YaHei"/>
                        </a:rPr>
                        <a:t>铆钉枪、压力表</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护甲金属、黄铜枪身</a:t>
                      </a:r>
                    </a:p>
                    <a:p>
                      <a:r>
                        <a:rPr sz="1725" b="0">
                          <a:solidFill>
                            <a:srgbClr val="EBE8E1"/>
                          </a:solidFill>
                          <a:latin typeface="Microsoft YaHei"/>
                          <a:ea typeface="Microsoft YaHei"/>
                          <a:cs typeface="Microsoft YaHei"/>
                        </a:rPr>
                        <a:t>青蓝核心发光遮罩</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bl>
          </a:graphicData>
        </a:graphic>
      </p:graphicFrame>
      <p:pic>
        <p:nvPicPr>
          <p:cNvPr id="4" name="">
            <a:extLst xmlns:a="http://schemas.openxmlformats.org/drawingml/2006/main">
              <a:ext uri="{FF2B5EF4-FFF2-40B4-BE49-F238E27FC236}">
                <a16:creationId xmlns:a16="http://schemas.microsoft.com/office/drawing/2014/main" id="{4E6A45AB-E19C-4BE1-820F-F092BA9C49EA}"/>
              </a:ext>
            </a:extLst>
          </p:cNvPr>
          <p:cNvPicPr>
            <a:picLocks xmlns:a="http://schemas.openxmlformats.org/drawingml/2006/main" noChangeAspect="1"/>
          </p:cNvPicPr>
          <p:nvPr/>
        </p:nvPicPr>
        <p:blipFill>
          <a:blip xmlns:r="http://schemas.openxmlformats.org/officeDocument/2006/relationships" xmlns:a="http://schemas.openxmlformats.org/drawingml/2006/main" r:embed="R0d1e0d35f4a04200"/>
          <a:stretch xmlns:a="http://schemas.openxmlformats.org/drawingml/2006/main"/>
        </p:blipFill>
        <p:spPr>
          <a:xfrm xmlns:a="http://schemas.openxmlformats.org/drawingml/2006/main">
            <a:off x="8743950" y="1658689"/>
            <a:ext cx="2990850" cy="1683248"/>
          </a:xfrm>
          <a:prstGeom xmlns:a="http://schemas.openxmlformats.org/drawingml/2006/main" prst="rect">
            <a:avLst/>
          </a:prstGeom>
        </p:spPr>
      </p:pic>
      <p:sp>
        <p:nvSpPr>
          <p:cNvPr id="5" name="asset-caption">
            <a:extLst xmlns:a="http://schemas.openxmlformats.org/drawingml/2006/main">
              <a:ext uri="{FF2B5EF4-FFF2-40B4-BE49-F238E27FC236}">
                <a16:creationId xmlns:a16="http://schemas.microsoft.com/office/drawing/2014/main" id="{A53E4E11-74C1-48E6-9EE8-8BB66C4BCC84}"/>
              </a:ext>
            </a:extLst>
          </p:cNvPr>
          <p:cNvSpPr>
            <a:spLocks xmlns:a="http://schemas.openxmlformats.org/drawingml/2006/main" noGrp="1"/>
          </p:cNvSpPr>
          <p:nvPr/>
        </p:nvSpPr>
        <p:spPr>
          <a:xfrm xmlns:a="http://schemas.openxmlformats.org/drawingml/2006/main">
            <a:off x="8743950" y="3457575"/>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7B5BD"/>
                </a:solidFill>
                <a:latin typeface="Microsoft YaHei"/>
                <a:ea typeface="Microsoft YaHei"/>
                <a:cs typeface="Microsoft YaHei"/>
              </a:defRPr>
            </a:defPPr>
          </a:lstStyle>
          <a:p xmlns:a="http://schemas.openxmlformats.org/drawingml/2006/main">
            <a:pPr>
              <a:defRPr sz="1350" b="0">
                <a:solidFill>
                  <a:srgbClr val="A7B5BD"/>
                </a:solidFill>
                <a:latin typeface="Microsoft YaHei"/>
                <a:ea typeface="Microsoft YaHei"/>
                <a:cs typeface="Microsoft YaHei"/>
              </a:defRPr>
            </a:pPr>
            <a:r>
              <a:rPr sz="1350" b="0">
                <a:solidFill>
                  <a:srgbClr val="A7B5BD"/>
                </a:solidFill>
                <a:latin typeface="Microsoft YaHei"/>
                <a:ea typeface="Microsoft YaHei"/>
                <a:cs typeface="Microsoft YaHei"/>
              </a:rPr>
              <a:t>形状与材质参考（AI 概念图）</a:t>
            </a:r>
          </a:p>
        </p:txBody>
      </p:sp>
      <p:sp>
        <p:nvSpPr>
          <p:cNvPr id="6" name="keyword-title">
            <a:extLst xmlns:a="http://schemas.openxmlformats.org/drawingml/2006/main">
              <a:ext uri="{FF2B5EF4-FFF2-40B4-BE49-F238E27FC236}">
                <a16:creationId xmlns:a16="http://schemas.microsoft.com/office/drawing/2014/main" id="{CA253CE2-6C16-4FB5-901E-FA4D625CBBD9}"/>
              </a:ext>
            </a:extLst>
          </p:cNvPr>
          <p:cNvSpPr>
            <a:spLocks xmlns:a="http://schemas.openxmlformats.org/drawingml/2006/main" noGrp="1"/>
          </p:cNvSpPr>
          <p:nvPr/>
        </p:nvSpPr>
        <p:spPr>
          <a:xfrm xmlns:a="http://schemas.openxmlformats.org/drawingml/2006/main">
            <a:off x="8743950" y="3933825"/>
            <a:ext cx="2990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BB071"/>
                </a:solidFill>
                <a:latin typeface="Microsoft YaHei"/>
                <a:ea typeface="Microsoft YaHei"/>
                <a:cs typeface="Microsoft YaHei"/>
              </a:defRPr>
            </a:defPPr>
          </a:lstStyle>
          <a:p xmlns:a="http://schemas.openxmlformats.org/drawingml/2006/main">
            <a:pPr>
              <a:defRPr sz="1875" b="1">
                <a:solidFill>
                  <a:srgbClr val="DBB071"/>
                </a:solidFill>
                <a:latin typeface="Microsoft YaHei"/>
                <a:ea typeface="Microsoft YaHei"/>
                <a:cs typeface="Microsoft YaHei"/>
              </a:defRPr>
            </a:pPr>
            <a:r>
              <a:rPr sz="1875" b="1">
                <a:solidFill>
                  <a:srgbClr val="DBB071"/>
                </a:solidFill>
                <a:latin typeface="Microsoft YaHei"/>
                <a:ea typeface="Microsoft YaHei"/>
                <a:cs typeface="Microsoft YaHei"/>
              </a:rPr>
              <a:t>检索关键词</a:t>
            </a:r>
          </a:p>
        </p:txBody>
      </p:sp>
      <p:sp>
        <p:nvSpPr>
          <p:cNvPr id="7" name="keywords">
            <a:extLst xmlns:a="http://schemas.openxmlformats.org/drawingml/2006/main">
              <a:ext uri="{FF2B5EF4-FFF2-40B4-BE49-F238E27FC236}">
                <a16:creationId xmlns:a16="http://schemas.microsoft.com/office/drawing/2014/main" id="{0BB5D0F9-3A9E-490F-AE38-E359A06BE1C1}"/>
              </a:ext>
            </a:extLst>
          </p:cNvPr>
          <p:cNvSpPr>
            <a:spLocks xmlns:a="http://schemas.openxmlformats.org/drawingml/2006/main" noGrp="1"/>
          </p:cNvSpPr>
          <p:nvPr/>
        </p:nvSpPr>
        <p:spPr>
          <a:xfrm xmlns:a="http://schemas.openxmlformats.org/drawingml/2006/main">
            <a:off x="8743950" y="4343400"/>
            <a:ext cx="29908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modular castle</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steampunk pipes</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clockwork knight</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aged brass PBR</a:t>
            </a:r>
          </a:p>
        </p:txBody>
      </p:sp>
      <p:sp>
        <p:nvSpPr>
          <p:cNvPr id="8" name="extension">
            <a:extLst xmlns:a="http://schemas.openxmlformats.org/drawingml/2006/main">
              <a:ext uri="{FF2B5EF4-FFF2-40B4-BE49-F238E27FC236}">
                <a16:creationId xmlns:a16="http://schemas.microsoft.com/office/drawing/2014/main" id="{05E6F0BE-1697-478E-976B-B0EA79E06245}"/>
              </a:ext>
            </a:extLst>
          </p:cNvPr>
          <p:cNvSpPr>
            <a:spLocks xmlns:a="http://schemas.openxmlformats.org/drawingml/2006/main" noGrp="1"/>
          </p:cNvSpPr>
          <p:nvPr/>
        </p:nvSpPr>
        <p:spPr>
          <a:xfrm xmlns:a="http://schemas.openxmlformats.org/drawingml/2006/main">
            <a:off x="457200" y="57626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BB071"/>
                </a:solidFill>
                <a:latin typeface="Microsoft YaHei"/>
                <a:ea typeface="Microsoft YaHei"/>
                <a:cs typeface="Microsoft YaHei"/>
              </a:defRPr>
            </a:defPPr>
          </a:lstStyle>
          <a:p xmlns:a="http://schemas.openxmlformats.org/drawingml/2006/main">
            <a:pPr>
              <a:defRPr sz="1725" b="0">
                <a:solidFill>
                  <a:srgbClr val="DBB071"/>
                </a:solidFill>
                <a:latin typeface="Microsoft YaHei"/>
                <a:ea typeface="Microsoft YaHei"/>
                <a:cs typeface="Microsoft YaHei"/>
              </a:defRPr>
            </a:pPr>
            <a:r>
              <a:rPr sz="1725" b="0">
                <a:solidFill>
                  <a:srgbClr val="DBB071"/>
                </a:solidFill>
                <a:latin typeface="Microsoft YaHei"/>
                <a:ea typeface="Microsoft YaHei"/>
                <a:cs typeface="Microsoft YaHei"/>
              </a:rPr>
              <a:t>P1 氛围扩展：旗帜、仪表、小型蒸汽特效。先用静态配重表现停摆。</a:t>
            </a:r>
          </a:p>
        </p:txBody>
      </p:sp>
      <p:sp>
        <p:nvSpPr>
          <p:cNvPr id="9" name="requirements">
            <a:extLst xmlns:a="http://schemas.openxmlformats.org/drawingml/2006/main">
              <a:ext uri="{FF2B5EF4-FFF2-40B4-BE49-F238E27FC236}">
                <a16:creationId xmlns:a16="http://schemas.microsoft.com/office/drawing/2014/main" id="{86EE1A55-2F28-4A9B-B802-033827B93F17}"/>
              </a:ext>
            </a:extLst>
          </p:cNvPr>
          <p:cNvSpPr>
            <a:spLocks xmlns:a="http://schemas.openxmlformats.org/drawingml/2006/main" noGrp="1"/>
          </p:cNvSpPr>
          <p:nvPr/>
        </p:nvSpPr>
        <p:spPr>
          <a:xfrm xmlns:a="http://schemas.openxmlformats.org/drawingml/2006/main">
            <a:off x="457200" y="62007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3D8D8"/>
                </a:solidFill>
                <a:latin typeface="Microsoft YaHei"/>
                <a:ea typeface="Microsoft YaHei"/>
                <a:cs typeface="Microsoft YaHei"/>
              </a:defRPr>
            </a:defPPr>
          </a:lstStyle>
          <a:p xmlns:a="http://schemas.openxmlformats.org/drawingml/2006/main">
            <a:pPr>
              <a:defRPr sz="1575" b="0">
                <a:solidFill>
                  <a:srgbClr val="D3D8D8"/>
                </a:solidFill>
                <a:latin typeface="Microsoft YaHei"/>
                <a:ea typeface="Microsoft YaHei"/>
                <a:cs typeface="Microsoft YaHei"/>
              </a:defRPr>
            </a:pPr>
            <a:r>
              <a:rPr sz="1575" b="0">
                <a:solidFill>
                  <a:srgbClr val="D3D8D8"/>
                </a:solidFill>
                <a:latin typeface="Microsoft YaHei"/>
                <a:ea typeface="Microsoft YaHei"/>
                <a:cs typeface="Microsoft YaHei"/>
              </a:rPr>
              <a:t>统一要求：模块有简单碰撞，角色带骨骼；PBR 需 Base Color、Normal、Roughness、AO，金属件补 Metallic。</a:t>
            </a:r>
          </a:p>
        </p:txBody>
      </p:sp>
      <p:sp>
        <p:nvSpPr>
          <p:cNvPr id="10" name="page">
            <a:extLst xmlns:a="http://schemas.openxmlformats.org/drawingml/2006/main">
              <a:ext uri="{FF2B5EF4-FFF2-40B4-BE49-F238E27FC236}">
                <a16:creationId xmlns:a16="http://schemas.microsoft.com/office/drawing/2014/main" id="{309CAAB5-40BA-43B7-8A4C-E015C4C85A21}"/>
              </a:ext>
            </a:extLst>
          </p:cNvPr>
          <p:cNvSpPr>
            <a:spLocks xmlns:a="http://schemas.openxmlformats.org/drawingml/2006/main" noGrp="1"/>
          </p:cNvSpPr>
          <p:nvPr/>
        </p:nvSpPr>
        <p:spPr>
          <a:xfrm xmlns:a="http://schemas.openxmlformats.org/drawingml/2006/main">
            <a:off x="11239500" y="65341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7B5BD"/>
                </a:solidFill>
                <a:latin typeface="Microsoft YaHei"/>
                <a:ea typeface="Microsoft YaHei"/>
                <a:cs typeface="Microsoft YaHei"/>
              </a:defRPr>
            </a:defPPr>
          </a:lstStyle>
          <a:p xmlns:a="http://schemas.openxmlformats.org/drawingml/2006/main">
            <a:pPr>
              <a:defRPr sz="1200" b="0">
                <a:solidFill>
                  <a:srgbClr val="A7B5BD"/>
                </a:solidFill>
                <a:latin typeface="Microsoft YaHei"/>
                <a:ea typeface="Microsoft YaHei"/>
                <a:cs typeface="Microsoft YaHei"/>
              </a:defRPr>
            </a:pPr>
            <a:r>
              <a:rPr sz="1200" b="0">
                <a:solidFill>
                  <a:srgbClr val="A7B5BD"/>
                </a:solidFill>
                <a:latin typeface="Microsoft YaHei"/>
                <a:ea typeface="Microsoft YaHei"/>
                <a:cs typeface="Microsoft YaHei"/>
              </a:rPr>
              <a:t>2 / 2</a:t>
            </a:r>
          </a:p>
        </p:txBody>
      </p:sp>
    </p:spTree>
    <p:extLst>
      <p:ext uri="{BB962C8B-B14F-4D97-AF65-F5344CB8AC3E}">
        <p14:creationId xmlns:p14="http://schemas.microsoft.com/office/powerpoint/2010/main" val="11718589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2026-10-13T08:02:46.6470000Z</dcterms:created>
  <dcterms:modified xsi:type="dcterms:W3CDTF">2026-10-13T08:02:46.6470000Z</dcterms:modified>
</coreProperties>
</file>